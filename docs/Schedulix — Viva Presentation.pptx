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embeddedFontLst>
    <p:embeddedFont>
      <p:font typeface="Roboto" panose="02000000000000000000" pitchFamily="34" charset="0"/>
      <p:regular r:id="rId11"/>
      <p:bold r:id="rId1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font" Target="fonts/font1.fntdata"/><Relationship Id="rId1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problem: timetabling is NP-hard and manual planning causes clashes. Our objective is an automated zero-clash platform for three 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decoupled tiers. The API is layered Controllers to Services to Repositories to Models, with AuthMiddleware and RoleMiddleware enforcing RBAC.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constraints. Generation uses a greedy heuristic with an in-memory index, so it is fast. Admins can edit manually and every change is audit-logged.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no clashes by construction, generation in seconds, three role portals. Roadmap: global optimization, substitution suggestions, calendar sync and PDF export.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8FAFF"/>
        </a:solidFill>
      </p:bgPr>
    </p:bg>
    <p:spTree>
      <p:nvGrpSpPr>
        <p:cNvPr id="1" name=""/>
        <p:cNvGrpSpPr/>
        <p:nvPr/>
      </p:nvGrpSpPr>
      <p:grpSpPr>
        <a:xfrm>
          <a:off x="0" y="0"/>
          <a:ext cx="0" cy="0"/>
          <a:chOff x="0" y="0"/>
          <a:chExt cx="0" cy="0"/>
        </a:xfrm>
      </p:grpSpPr>
      <p:sp>
        <p:nvSpPr>
          <p:cNvPr id="2" name="Title Placeholder 1"/>
          <p:cNvSpPr/>
          <p:nvPr>
            <p:ph type="title"/>
          </p:nvPr>
        </p:nvSpPr>
        <p:spPr>
          <a:xfrm>
            <a:off x="609600" y="812800"/>
            <a:ext cx="10972800" cy="408940"/>
          </a:xfrm>
          <a:prstGeom prst="rect">
            <a:avLst/>
          </a:prstGeom>
          <a:noFill/>
          <a:ln/>
        </p:spPr>
        <p:txBody>
          <a:bodyPr wrap="square" lIns="0" tIns="0" rIns="0" bIns="0" rtlCol="0" anchor="t"/>
          <a:lstStyle>
            <a:lvl1pPr algn="l" indent="0" marL="0">
              <a:lnSpc>
                <a:spcPct val="115000"/>
              </a:lnSpc>
              <a:buNone/>
              <a:defRPr lang="en-US" sz="2800" dirty="0">
                <a:solidFill>
                  <a:srgbClr val="0F172A"/>
                </a:solidFill>
                <a:latin typeface="Roboto" pitchFamily="34" charset="0"/>
                <a:ea typeface="Roboto" pitchFamily="34" charset="-122"/>
                <a:cs typeface="Roboto"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609600" y="1526540"/>
            <a:ext cx="10769600" cy="4518660"/>
          </a:xfrm>
          <a:prstGeom prst="rect">
            <a:avLst/>
          </a:prstGeom>
          <a:noFill/>
          <a:ln/>
        </p:spPr>
        <p:txBody>
          <a:bodyPr wrap="square" lIns="0" tIns="0" rIns="0" bIns="0" rtlCol="0" anchor="t"/>
          <a:lstStyle>
            <a:lvl1pPr algn="l" indent="0" marL="0">
              <a:lnSpc>
                <a:spcPct val="140000"/>
              </a:lnSpc>
              <a:buNone/>
              <a:defRPr lang="en-US" sz="1600" dirty="0">
                <a:solidFill>
                  <a:srgbClr val="141413"/>
                </a:solidFill>
                <a:latin typeface="Roboto" pitchFamily="34" charset="0"/>
                <a:ea typeface="Roboto" pitchFamily="34" charset="-122"/>
                <a:cs typeface="Robot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8FAFF"/>
        </a:solidFill>
      </p:bgPr>
    </p:bg>
    <p:spTree>
      <p:nvGrpSpPr>
        <p:cNvPr id="1" name=""/>
        <p:cNvGrpSpPr/>
        <p:nvPr/>
      </p:nvGrpSpPr>
      <p:grpSpPr>
        <a:xfrm>
          <a:off x="0" y="0"/>
          <a:ext cx="0" cy="0"/>
          <a:chOff x="0" y="0"/>
          <a:chExt cx="0" cy="0"/>
        </a:xfrm>
      </p:grpSpPr>
      <p:sp>
        <p:nvSpPr>
          <p:cNvPr id="2" name="Title Placeholder 1"/>
          <p:cNvSpPr/>
          <p:nvPr>
            <p:ph type="title"/>
          </p:nvPr>
        </p:nvSpPr>
        <p:spPr>
          <a:xfrm>
            <a:off x="609600" y="812800"/>
            <a:ext cx="10972800" cy="408940"/>
          </a:xfrm>
          <a:prstGeom prst="rect">
            <a:avLst/>
          </a:prstGeom>
          <a:noFill/>
          <a:ln/>
        </p:spPr>
        <p:txBody>
          <a:bodyPr wrap="square" lIns="0" tIns="0" rIns="0" bIns="0" rtlCol="0" anchor="t"/>
          <a:lstStyle>
            <a:lvl1pPr algn="l" indent="0" marL="0">
              <a:lnSpc>
                <a:spcPct val="115000"/>
              </a:lnSpc>
              <a:buNone/>
              <a:defRPr lang="en-US" sz="2800" dirty="0">
                <a:solidFill>
                  <a:srgbClr val="0F172A"/>
                </a:solidFill>
                <a:latin typeface="Roboto" pitchFamily="34" charset="0"/>
                <a:ea typeface="Roboto" pitchFamily="34" charset="-122"/>
                <a:cs typeface="Roboto"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609600" y="1526540"/>
            <a:ext cx="10769600" cy="4518660"/>
          </a:xfrm>
          <a:prstGeom prst="rect">
            <a:avLst/>
          </a:prstGeom>
          <a:noFill/>
          <a:ln/>
        </p:spPr>
        <p:txBody>
          <a:bodyPr wrap="square" lIns="0" tIns="0" rIns="0" bIns="0" rtlCol="0" anchor="t"/>
          <a:lstStyle>
            <a:lvl1pPr algn="l" indent="0" marL="0">
              <a:lnSpc>
                <a:spcPct val="140000"/>
              </a:lnSpc>
              <a:buNone/>
              <a:defRPr lang="en-US" sz="1600" dirty="0">
                <a:solidFill>
                  <a:srgbClr val="141413"/>
                </a:solidFill>
                <a:latin typeface="Roboto" pitchFamily="34" charset="0"/>
                <a:ea typeface="Roboto" pitchFamily="34" charset="-122"/>
                <a:cs typeface="Robot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F8FAFF"/>
              </a:gs>
              <a:gs pos="55000">
                <a:srgbClr val="EEF2FF"/>
              </a:gs>
              <a:gs pos="100000">
                <a:srgbClr val="E6F3FB"/>
              </a:gs>
            </a:gsLst>
            <a:lin ang="2700000" scaled="0"/>
          </a:gradFill>
          <a:ln/>
        </p:spPr>
      </p:sp>
      <p:sp>
        <p:nvSpPr>
          <p:cNvPr id="3" name="Shape 1"/>
          <p:cNvSpPr/>
          <p:nvPr/>
        </p:nvSpPr>
        <p:spPr>
          <a:xfrm>
            <a:off x="0" y="0"/>
            <a:ext cx="12192000" cy="457200"/>
          </a:xfrm>
          <a:prstGeom prst="rect">
            <a:avLst/>
          </a:prstGeom>
          <a:solidFill>
            <a:srgbClr val="FFFFFF"/>
          </a:solidFill>
          <a:ln/>
        </p:spPr>
      </p:sp>
      <p:sp>
        <p:nvSpPr>
          <p:cNvPr id="4" name="Shape 2"/>
          <p:cNvSpPr/>
          <p:nvPr/>
        </p:nvSpPr>
        <p:spPr>
          <a:xfrm>
            <a:off x="0" y="454025"/>
            <a:ext cx="12192000" cy="0"/>
          </a:xfrm>
          <a:prstGeom prst="line">
            <a:avLst/>
          </a:prstGeom>
          <a:noFill/>
          <a:ln w="6350">
            <a:solidFill>
              <a:srgbClr val="E2E8F4"/>
            </a:solidFill>
            <a:prstDash val="solid"/>
          </a:ln>
        </p:spPr>
      </p:sp>
      <p:sp>
        <p:nvSpPr>
          <p:cNvPr id="5" name="Text 3"/>
          <p:cNvSpPr/>
          <p:nvPr/>
        </p:nvSpPr>
        <p:spPr>
          <a:xfrm>
            <a:off x="609600" y="112501"/>
            <a:ext cx="228600" cy="228600"/>
          </a:xfrm>
          <a:custGeom>
            <a:avLst/>
            <a:gdLst/>
            <a:ahLst/>
            <a:cxnLst/>
            <a:rect l="l" t="t" r="r" b="b"/>
            <a:pathLst>
              <a:path w="228600" h="228600">
                <a:moveTo>
                  <a:pt x="114300" y="0"/>
                </a:moveTo>
                <a:lnTo>
                  <a:pt x="114300" y="0"/>
                </a:lnTo>
                <a:arcTo hR="114300" wR="114300" stAng="16200000" swAng="5400000"/>
                <a:lnTo>
                  <a:pt x="228600" y="114300"/>
                </a:lnTo>
                <a:arcTo hR="114300" wR="114300" stAng="0" swAng="5400000"/>
                <a:lnTo>
                  <a:pt x="114300" y="228600"/>
                </a:lnTo>
                <a:arcTo hR="114300" wR="114300" stAng="5400000" swAng="5400000"/>
                <a:lnTo>
                  <a:pt x="0" y="114300"/>
                </a:lnTo>
                <a:arcTo hR="114300" wR="114300" stAng="10800000" swAng="5400000"/>
                <a:close/>
              </a:path>
            </a:pathLst>
          </a:custGeom>
          <a:solidFill>
            <a:srgbClr val="4F6BED"/>
          </a:solidFill>
          <a:ln/>
        </p:spPr>
        <p:txBody>
          <a:bodyPr wrap="square" lIns="0" tIns="0" rIns="0" bIns="0" rtlCol="0" anchor="ctr">
            <a:normAutofit/>
          </a:bodyPr>
          <a:lstStyle/>
          <a:p>
            <a:pPr algn="ctr" indent="0" marL="0">
              <a:lnSpc>
                <a:spcPts val="1680"/>
              </a:lnSpc>
              <a:buNone/>
            </a:pPr>
            <a:r>
              <a:rPr lang="en-US" sz="1200" dirty="0">
                <a:solidFill>
                  <a:srgbClr val="FFFFFF"/>
                </a:solidFill>
                <a:latin typeface="Roboto" pitchFamily="34" charset="0"/>
                <a:ea typeface="Roboto" pitchFamily="34" charset="-122"/>
                <a:cs typeface="Roboto" pitchFamily="34" charset="-120"/>
              </a:rPr>
              <a:t>S</a:t>
            </a:r>
            <a:endParaRPr lang="en-US" sz="1200" dirty="0"/>
          </a:p>
        </p:txBody>
      </p:sp>
      <p:sp>
        <p:nvSpPr>
          <p:cNvPr id="6" name="Text 4"/>
          <p:cNvSpPr/>
          <p:nvPr/>
        </p:nvSpPr>
        <p:spPr>
          <a:xfrm>
            <a:off x="939800" y="111231"/>
            <a:ext cx="86182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336"/>
                </a:solidFill>
                <a:latin typeface="Roboto" pitchFamily="34" charset="0"/>
                <a:ea typeface="Roboto" pitchFamily="34" charset="-122"/>
                <a:cs typeface="Roboto" pitchFamily="34" charset="-120"/>
              </a:rPr>
              <a:t>Schedulix</a:t>
            </a:r>
            <a:endParaRPr lang="en-US" sz="1300" dirty="0"/>
          </a:p>
        </p:txBody>
      </p:sp>
      <p:sp>
        <p:nvSpPr>
          <p:cNvPr id="7" name="Text 5"/>
          <p:cNvSpPr/>
          <p:nvPr/>
        </p:nvSpPr>
        <p:spPr>
          <a:xfrm>
            <a:off x="10579100" y="94298"/>
            <a:ext cx="1000125" cy="265007"/>
          </a:xfrm>
          <a:custGeom>
            <a:avLst/>
            <a:gdLst/>
            <a:ahLst/>
            <a:cxnLst/>
            <a:rect l="l" t="t" r="r" b="b"/>
            <a:pathLst>
              <a:path w="1000125" h="265007">
                <a:moveTo>
                  <a:pt x="132503" y="0"/>
                </a:moveTo>
                <a:lnTo>
                  <a:pt x="867622" y="0"/>
                </a:lnTo>
                <a:arcTo hR="132503" wR="132503" stAng="16200000" swAng="5400000"/>
                <a:lnTo>
                  <a:pt x="1000125" y="132503"/>
                </a:lnTo>
                <a:arcTo hR="132503" wR="132503" stAng="0" swAng="5400000"/>
                <a:lnTo>
                  <a:pt x="132503" y="265007"/>
                </a:lnTo>
                <a:arcTo hR="132503" wR="132503" stAng="5400000" swAng="5400000"/>
                <a:lnTo>
                  <a:pt x="0" y="132503"/>
                </a:lnTo>
                <a:arcTo hR="132503" wR="132503" stAng="10800000" swAng="5400000"/>
                <a:close/>
              </a:path>
            </a:pathLst>
          </a:custGeom>
          <a:noFill/>
          <a:ln w="6350">
            <a:solidFill>
              <a:srgbClr val="CBD5E8"/>
            </a:solidFill>
            <a:prstDash val="solid"/>
          </a:ln>
        </p:spPr>
        <p:txBody>
          <a:bodyPr wrap="none" lIns="0" tIns="0" rIns="0" bIns="0" rtlCol="0" anchor="ctr">
            <a:normAutofit/>
          </a:bodyPr>
          <a:lstStyle/>
          <a:p>
            <a:pPr algn="ctr" indent="0" marL="0">
              <a:lnSpc>
                <a:spcPts val="1680"/>
              </a:lnSpc>
              <a:buNone/>
            </a:pPr>
            <a:r>
              <a:rPr lang="en-US" sz="1200" dirty="0">
                <a:solidFill>
                  <a:srgbClr val="64748B"/>
                </a:solidFill>
                <a:latin typeface="Roboto" pitchFamily="34" charset="0"/>
                <a:ea typeface="Roboto" pitchFamily="34" charset="-122"/>
                <a:cs typeface="Roboto" pitchFamily="34" charset="-120"/>
              </a:rPr>
              <a:t>WT Project</a:t>
            </a:r>
            <a:endParaRPr lang="en-US" sz="1200" dirty="0"/>
          </a:p>
        </p:txBody>
      </p:sp>
      <p:sp>
        <p:nvSpPr>
          <p:cNvPr id="8" name="Text 6"/>
          <p:cNvSpPr/>
          <p:nvPr/>
        </p:nvSpPr>
        <p:spPr>
          <a:xfrm>
            <a:off x="609600" y="2270337"/>
            <a:ext cx="5415534" cy="256540"/>
          </a:xfrm>
          <a:prstGeom prst="rect">
            <a:avLst/>
          </a:prstGeom>
          <a:noFill/>
          <a:ln/>
        </p:spPr>
        <p:txBody>
          <a:bodyPr wrap="square" lIns="0" tIns="0" rIns="0" bIns="0" rtlCol="0" anchor="t">
            <a:normAutofit/>
          </a:bodyPr>
          <a:lstStyle/>
          <a:p>
            <a:pPr algn="l" indent="0" marL="0">
              <a:lnSpc>
                <a:spcPts val="1820"/>
              </a:lnSpc>
              <a:buNone/>
            </a:pPr>
            <a:r>
              <a:rPr lang="en-US" sz="1300" spc="150" kern="0" dirty="0">
                <a:solidFill>
                  <a:srgbClr val="0288D1"/>
                </a:solidFill>
                <a:latin typeface="Roboto" pitchFamily="34" charset="0"/>
                <a:ea typeface="Roboto" pitchFamily="34" charset="-122"/>
                <a:cs typeface="Roboto" pitchFamily="34" charset="-120"/>
              </a:rPr>
              <a:t>DEPARTMENT OF COMPUTER APPLICATIONS</a:t>
            </a:r>
            <a:endParaRPr lang="en-US" sz="1300" dirty="0"/>
          </a:p>
        </p:txBody>
      </p:sp>
      <p:sp>
        <p:nvSpPr>
          <p:cNvPr id="9" name="Text 7"/>
          <p:cNvSpPr/>
          <p:nvPr>
            <p:ph type="title"/>
          </p:nvPr>
        </p:nvSpPr>
        <p:spPr>
          <a:xfrm>
            <a:off x="609600" y="2679277"/>
            <a:ext cx="5415534" cy="863600"/>
          </a:xfrm>
          <a:prstGeom prst="rect">
            <a:avLst/>
          </a:prstGeom>
          <a:noFill/>
          <a:ln/>
        </p:spPr>
        <p:txBody>
          <a:bodyPr wrap="square" lIns="0" tIns="0" rIns="0" bIns="0" rtlCol="0" anchor="t">
            <a:normAutofit/>
          </a:bodyPr>
          <a:lstStyle/>
          <a:p>
            <a:pPr algn="l" indent="0" marL="0">
              <a:lnSpc>
                <a:spcPts val="6600"/>
              </a:lnSpc>
              <a:buNone/>
            </a:pPr>
            <a:r>
              <a:rPr lang="en-US" sz="6600" b="1" i="0" dirty="0">
                <a:solidFill>
                  <a:srgbClr val="0F172A"/>
                </a:solidFill>
                <a:latin typeface="Roboto" pitchFamily="34" charset="0"/>
                <a:ea typeface="Roboto" pitchFamily="34" charset="-122"/>
                <a:cs typeface="Roboto" pitchFamily="34" charset="-120"/>
              </a:rPr>
              <a:t>Schedulix</a:t>
            </a:r>
            <a:endParaRPr lang="en-US" sz="6600" dirty="0"/>
          </a:p>
        </p:txBody>
      </p:sp>
      <p:sp>
        <p:nvSpPr>
          <p:cNvPr id="10" name="Text 8"/>
          <p:cNvSpPr/>
          <p:nvPr/>
        </p:nvSpPr>
        <p:spPr>
          <a:xfrm>
            <a:off x="609600" y="3695277"/>
            <a:ext cx="5415534" cy="755650"/>
          </a:xfrm>
          <a:prstGeom prst="rect">
            <a:avLst/>
          </a:prstGeom>
          <a:noFill/>
          <a:ln/>
        </p:spPr>
        <p:txBody>
          <a:bodyPr wrap="square" lIns="0" tIns="0" rIns="0" bIns="0" rtlCol="0" anchor="t">
            <a:normAutofit/>
          </a:bodyPr>
          <a:lstStyle/>
          <a:p>
            <a:pPr algn="l" indent="0" marL="0">
              <a:lnSpc>
                <a:spcPts val="2875"/>
              </a:lnSpc>
              <a:buNone/>
            </a:pPr>
            <a:r>
              <a:rPr lang="en-US" sz="2300" dirty="0">
                <a:solidFill>
                  <a:srgbClr val="475569"/>
                </a:solidFill>
                <a:latin typeface="Roboto" pitchFamily="34" charset="0"/>
                <a:ea typeface="Roboto" pitchFamily="34" charset="-122"/>
                <a:cs typeface="Roboto" pitchFamily="34" charset="-120"/>
              </a:rPr>
              <a:t>Smart Constraint-Based Timetable Management System</a:t>
            </a:r>
            <a:endParaRPr lang="en-US" sz="2300" dirty="0"/>
          </a:p>
        </p:txBody>
      </p:sp>
      <p:sp>
        <p:nvSpPr>
          <p:cNvPr id="11" name="Text 9"/>
          <p:cNvSpPr/>
          <p:nvPr/>
        </p:nvSpPr>
        <p:spPr>
          <a:xfrm>
            <a:off x="612775" y="4606502"/>
            <a:ext cx="1881717" cy="358987"/>
          </a:xfrm>
          <a:prstGeom prst="roundRect">
            <a:avLst>
              <a:gd name="adj" fmla="val 50000"/>
            </a:avLst>
          </a:prstGeom>
          <a:gradFill rotWithShape="1">
            <a:gsLst>
              <a:gs pos="0">
                <a:srgbClr val="FFFFFF"/>
              </a:gs>
              <a:gs pos="100000">
                <a:srgbClr val="F4F7FF"/>
              </a:gs>
            </a:gsLst>
            <a:lin ang="5400000" scaled="0"/>
          </a:gradFill>
          <a:ln w="6350">
            <a:solidFill>
              <a:srgbClr val="CBD5E8"/>
            </a:solidFill>
            <a:prstDash val="solid"/>
          </a:ln>
        </p:spPr>
        <p:txBody>
          <a:bodyPr wrap="none" lIns="0" tIns="0" rIns="0" bIns="0" rtlCol="0" anchor="ctr">
            <a:normAutofit/>
          </a:bodyPr>
          <a:lstStyle/>
          <a:p>
            <a:pPr algn="ctr" indent="0" marL="0">
              <a:lnSpc>
                <a:spcPts val="1820"/>
              </a:lnSpc>
              <a:buNone/>
            </a:pPr>
            <a:r>
              <a:rPr lang="en-US" sz="1300" dirty="0">
                <a:solidFill>
                  <a:srgbClr val="1B2336"/>
                </a:solidFill>
                <a:latin typeface="Roboto" pitchFamily="34" charset="0"/>
                <a:ea typeface="Roboto" pitchFamily="34" charset="-122"/>
                <a:cs typeface="Roboto" pitchFamily="34" charset="-120"/>
              </a:rPr>
              <a:t>Avaneesh Chopdekar</a:t>
            </a:r>
            <a:endParaRPr lang="en-US" sz="1300" dirty="0"/>
          </a:p>
        </p:txBody>
      </p:sp>
      <p:sp>
        <p:nvSpPr>
          <p:cNvPr id="12" name="Text 10"/>
          <p:cNvSpPr/>
          <p:nvPr/>
        </p:nvSpPr>
        <p:spPr>
          <a:xfrm>
            <a:off x="2602442" y="4606502"/>
            <a:ext cx="1757045" cy="358987"/>
          </a:xfrm>
          <a:prstGeom prst="roundRect">
            <a:avLst>
              <a:gd name="adj" fmla="val 50000"/>
            </a:avLst>
          </a:prstGeom>
          <a:gradFill rotWithShape="1">
            <a:gsLst>
              <a:gs pos="0">
                <a:srgbClr val="FFFFFF"/>
              </a:gs>
              <a:gs pos="100000">
                <a:srgbClr val="F4F7FF"/>
              </a:gs>
            </a:gsLst>
            <a:lin ang="5400000" scaled="0"/>
          </a:gradFill>
          <a:ln w="6350">
            <a:solidFill>
              <a:srgbClr val="CBD5E8"/>
            </a:solidFill>
            <a:prstDash val="solid"/>
          </a:ln>
        </p:spPr>
        <p:txBody>
          <a:bodyPr wrap="none" lIns="0" tIns="0" rIns="0" bIns="0" rtlCol="0" anchor="ctr">
            <a:normAutofit/>
          </a:bodyPr>
          <a:lstStyle/>
          <a:p>
            <a:pPr algn="ctr" indent="0" marL="0">
              <a:lnSpc>
                <a:spcPts val="1820"/>
              </a:lnSpc>
              <a:buNone/>
            </a:pPr>
            <a:r>
              <a:rPr lang="en-US" sz="1300" dirty="0">
                <a:solidFill>
                  <a:srgbClr val="1B2336"/>
                </a:solidFill>
                <a:latin typeface="Roboto" pitchFamily="34" charset="0"/>
                <a:ea typeface="Roboto" pitchFamily="34" charset="-122"/>
                <a:cs typeface="Roboto" pitchFamily="34" charset="-120"/>
              </a:rPr>
              <a:t>Vanshaj Madeshiya</a:t>
            </a:r>
            <a:endParaRPr lang="en-US" sz="1300" dirty="0"/>
          </a:p>
        </p:txBody>
      </p:sp>
      <p:sp>
        <p:nvSpPr>
          <p:cNvPr id="13" name="Text 11"/>
          <p:cNvSpPr/>
          <p:nvPr/>
        </p:nvSpPr>
        <p:spPr>
          <a:xfrm>
            <a:off x="4467437" y="4606502"/>
            <a:ext cx="1386205" cy="358987"/>
          </a:xfrm>
          <a:prstGeom prst="roundRect">
            <a:avLst>
              <a:gd name="adj" fmla="val 50000"/>
            </a:avLst>
          </a:prstGeom>
          <a:gradFill rotWithShape="1">
            <a:gsLst>
              <a:gs pos="0">
                <a:srgbClr val="FFFFFF"/>
              </a:gs>
              <a:gs pos="100000">
                <a:srgbClr val="F4F7FF"/>
              </a:gs>
            </a:gsLst>
            <a:lin ang="5400000" scaled="0"/>
          </a:gradFill>
          <a:ln w="6350">
            <a:solidFill>
              <a:srgbClr val="CBD5E8"/>
            </a:solidFill>
            <a:prstDash val="solid"/>
          </a:ln>
        </p:spPr>
        <p:txBody>
          <a:bodyPr wrap="none" lIns="0" tIns="0" rIns="0" bIns="0" rtlCol="0" anchor="ctr">
            <a:normAutofit/>
          </a:bodyPr>
          <a:lstStyle/>
          <a:p>
            <a:pPr algn="ctr" indent="0" marL="0">
              <a:lnSpc>
                <a:spcPts val="1820"/>
              </a:lnSpc>
              <a:buNone/>
            </a:pPr>
            <a:r>
              <a:rPr lang="en-US" sz="1300" dirty="0">
                <a:solidFill>
                  <a:srgbClr val="1B2336"/>
                </a:solidFill>
                <a:latin typeface="Roboto" pitchFamily="34" charset="0"/>
                <a:ea typeface="Roboto" pitchFamily="34" charset="-122"/>
                <a:cs typeface="Roboto" pitchFamily="34" charset="-120"/>
              </a:rPr>
              <a:t>Harshal Yadav</a:t>
            </a:r>
            <a:endParaRPr lang="en-US" sz="1300" dirty="0"/>
          </a:p>
        </p:txBody>
      </p:sp>
      <p:sp>
        <p:nvSpPr>
          <p:cNvPr id="14" name="Shape 12"/>
          <p:cNvSpPr/>
          <p:nvPr/>
        </p:nvSpPr>
        <p:spPr>
          <a:xfrm>
            <a:off x="6327775" y="2017818"/>
            <a:ext cx="5251450" cy="1778847"/>
          </a:xfrm>
          <a:prstGeom prst="roundRect">
            <a:avLst>
              <a:gd name="adj" fmla="val 5533"/>
            </a:avLst>
          </a:prstGeom>
          <a:gradFill rotWithShape="1">
            <a:gsLst>
              <a:gs pos="0">
                <a:srgbClr val="FFFFFF"/>
              </a:gs>
              <a:gs pos="100000">
                <a:srgbClr val="F4F7FF"/>
              </a:gs>
            </a:gsLst>
            <a:lin ang="5400000" scaled="0"/>
          </a:gradFill>
          <a:ln w="6350">
            <a:solidFill>
              <a:srgbClr val="E2E8F4"/>
            </a:solidFill>
            <a:prstDash val="solid"/>
          </a:ln>
        </p:spPr>
      </p:sp>
      <p:sp>
        <p:nvSpPr>
          <p:cNvPr id="15" name="Text 13"/>
          <p:cNvSpPr/>
          <p:nvPr/>
        </p:nvSpPr>
        <p:spPr>
          <a:xfrm>
            <a:off x="6556798" y="2246842"/>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FFF1DD"/>
          </a:solidFill>
          <a:ln/>
        </p:spPr>
        <p:txBody>
          <a:bodyPr wrap="square" lIns="0" tIns="0" rIns="0" bIns="0" rtlCol="0" anchor="ctr">
            <a:normAutofit/>
          </a:bodyPr>
          <a:lstStyle/>
          <a:p>
            <a:pPr algn="ctr" indent="0" marL="0">
              <a:lnSpc>
                <a:spcPts val="2380"/>
              </a:lnSpc>
              <a:buNone/>
            </a:pPr>
            <a:r>
              <a:rPr lang="en-US" sz="1700" dirty="0">
                <a:solidFill>
                  <a:srgbClr val="E65100"/>
                </a:solidFill>
                <a:latin typeface="Roboto" pitchFamily="34" charset="0"/>
                <a:ea typeface="Roboto" pitchFamily="34" charset="-122"/>
                <a:cs typeface="Roboto" pitchFamily="34" charset="-120"/>
              </a:rPr>
              <a:t>!</a:t>
            </a:r>
            <a:endParaRPr lang="en-US" sz="1700" dirty="0"/>
          </a:p>
        </p:txBody>
      </p:sp>
      <p:sp>
        <p:nvSpPr>
          <p:cNvPr id="16" name="Text 14"/>
          <p:cNvSpPr/>
          <p:nvPr/>
        </p:nvSpPr>
        <p:spPr>
          <a:xfrm>
            <a:off x="7090198" y="2246842"/>
            <a:ext cx="4387804"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E65100"/>
                </a:solidFill>
                <a:latin typeface="Roboto" pitchFamily="34" charset="0"/>
                <a:ea typeface="Roboto" pitchFamily="34" charset="-122"/>
                <a:cs typeface="Roboto" pitchFamily="34" charset="-120"/>
              </a:rPr>
              <a:t>The Problem</a:t>
            </a:r>
            <a:endParaRPr lang="en-US" sz="1600" dirty="0"/>
          </a:p>
        </p:txBody>
      </p:sp>
      <p:sp>
        <p:nvSpPr>
          <p:cNvPr id="17" name="Text 15"/>
          <p:cNvSpPr/>
          <p:nvPr/>
        </p:nvSpPr>
        <p:spPr>
          <a:xfrm>
            <a:off x="7090198" y="2566882"/>
            <a:ext cx="438780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Roboto" pitchFamily="34" charset="0"/>
                <a:ea typeface="Roboto" pitchFamily="34" charset="-122"/>
                <a:cs typeface="Roboto" pitchFamily="34" charset="-120"/>
              </a:rPr>
              <a:t>Timetabling is NP-hard, with competing constraints on faculty, rooms and sections.</a:t>
            </a:r>
            <a:endParaRPr lang="en-US" sz="1300" dirty="0"/>
          </a:p>
        </p:txBody>
      </p:sp>
      <p:sp>
        <p:nvSpPr>
          <p:cNvPr id="18" name="Text 16"/>
          <p:cNvSpPr/>
          <p:nvPr/>
        </p:nvSpPr>
        <p:spPr>
          <a:xfrm>
            <a:off x="7090198" y="3105362"/>
            <a:ext cx="438780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Roboto" pitchFamily="34" charset="0"/>
                <a:ea typeface="Roboto" pitchFamily="34" charset="-122"/>
                <a:cs typeface="Roboto" pitchFamily="34" charset="-120"/>
              </a:rPr>
              <a:t>Manual planning takes days and causes double-bookings, room clashes and capacity mismatches.</a:t>
            </a:r>
            <a:endParaRPr lang="en-US" sz="1300" dirty="0"/>
          </a:p>
        </p:txBody>
      </p:sp>
      <p:sp>
        <p:nvSpPr>
          <p:cNvPr id="19" name="Shape 17"/>
          <p:cNvSpPr/>
          <p:nvPr/>
        </p:nvSpPr>
        <p:spPr>
          <a:xfrm>
            <a:off x="6327775" y="3980815"/>
            <a:ext cx="5251450" cy="1240367"/>
          </a:xfrm>
          <a:prstGeom prst="roundRect">
            <a:avLst>
              <a:gd name="adj" fmla="val 7935"/>
            </a:avLst>
          </a:prstGeom>
          <a:gradFill rotWithShape="1">
            <a:gsLst>
              <a:gs pos="0">
                <a:srgbClr val="FFFFFF"/>
              </a:gs>
              <a:gs pos="100000">
                <a:srgbClr val="F4F7FF"/>
              </a:gs>
            </a:gsLst>
            <a:lin ang="5400000" scaled="0"/>
          </a:gradFill>
          <a:ln w="6350">
            <a:solidFill>
              <a:srgbClr val="E2E8F4"/>
            </a:solidFill>
            <a:prstDash val="solid"/>
          </a:ln>
        </p:spPr>
      </p:sp>
      <p:sp>
        <p:nvSpPr>
          <p:cNvPr id="20" name="Text 18"/>
          <p:cNvSpPr/>
          <p:nvPr/>
        </p:nvSpPr>
        <p:spPr>
          <a:xfrm>
            <a:off x="6556798" y="4209838"/>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E3F4E5"/>
          </a:solidFill>
          <a:ln/>
        </p:spPr>
        <p:txBody>
          <a:bodyPr wrap="square" lIns="0" tIns="0" rIns="0" bIns="0" rtlCol="0" anchor="ctr">
            <a:normAutofit/>
          </a:bodyPr>
          <a:lstStyle/>
          <a:p>
            <a:pPr algn="ctr" indent="0" marL="0">
              <a:lnSpc>
                <a:spcPts val="2240"/>
              </a:lnSpc>
              <a:buNone/>
            </a:pPr>
            <a:r>
              <a:rPr lang="en-US" sz="1600" dirty="0">
                <a:solidFill>
                  <a:srgbClr val="2E7D32"/>
                </a:solidFill>
                <a:latin typeface="Roboto" pitchFamily="34" charset="0"/>
                <a:ea typeface="Roboto" pitchFamily="34" charset="-122"/>
                <a:cs typeface="Roboto" pitchFamily="34" charset="-120"/>
              </a:rPr>
              <a:t>✓</a:t>
            </a:r>
            <a:endParaRPr lang="en-US" sz="1600" dirty="0"/>
          </a:p>
        </p:txBody>
      </p:sp>
      <p:sp>
        <p:nvSpPr>
          <p:cNvPr id="21" name="Text 19"/>
          <p:cNvSpPr/>
          <p:nvPr/>
        </p:nvSpPr>
        <p:spPr>
          <a:xfrm>
            <a:off x="7090198" y="4209838"/>
            <a:ext cx="4387804"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2E7D32"/>
                </a:solidFill>
                <a:latin typeface="Roboto" pitchFamily="34" charset="0"/>
                <a:ea typeface="Roboto" pitchFamily="34" charset="-122"/>
                <a:cs typeface="Roboto" pitchFamily="34" charset="-120"/>
              </a:rPr>
              <a:t>The Objective</a:t>
            </a:r>
            <a:endParaRPr lang="en-US" sz="1600" dirty="0"/>
          </a:p>
        </p:txBody>
      </p:sp>
      <p:sp>
        <p:nvSpPr>
          <p:cNvPr id="22" name="Text 20"/>
          <p:cNvSpPr/>
          <p:nvPr/>
        </p:nvSpPr>
        <p:spPr>
          <a:xfrm>
            <a:off x="7090198" y="4529879"/>
            <a:ext cx="438780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Roboto" pitchFamily="34" charset="0"/>
                <a:ea typeface="Roboto" pitchFamily="34" charset="-122"/>
                <a:cs typeface="Roboto" pitchFamily="34" charset="-120"/>
              </a:rPr>
              <a:t>An automated, zero-clash scheduling platform for Admin, Faculty and Students, with constraint validation built in.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F8FAFF"/>
              </a:gs>
              <a:gs pos="55000">
                <a:srgbClr val="EEF2FF"/>
              </a:gs>
              <a:gs pos="100000">
                <a:srgbClr val="E6F3FB"/>
              </a:gs>
            </a:gsLst>
            <a:lin ang="2700000" scaled="0"/>
          </a:gradFill>
          <a:ln/>
        </p:spPr>
      </p:sp>
      <p:sp>
        <p:nvSpPr>
          <p:cNvPr id="3" name="Shape 1"/>
          <p:cNvSpPr/>
          <p:nvPr/>
        </p:nvSpPr>
        <p:spPr>
          <a:xfrm>
            <a:off x="0" y="0"/>
            <a:ext cx="12192000" cy="457200"/>
          </a:xfrm>
          <a:prstGeom prst="rect">
            <a:avLst/>
          </a:prstGeom>
          <a:solidFill>
            <a:srgbClr val="FFFFFF"/>
          </a:solidFill>
          <a:ln/>
        </p:spPr>
      </p:sp>
      <p:sp>
        <p:nvSpPr>
          <p:cNvPr id="4" name="Shape 2"/>
          <p:cNvSpPr/>
          <p:nvPr/>
        </p:nvSpPr>
        <p:spPr>
          <a:xfrm>
            <a:off x="0" y="454025"/>
            <a:ext cx="12192000" cy="0"/>
          </a:xfrm>
          <a:prstGeom prst="line">
            <a:avLst/>
          </a:prstGeom>
          <a:noFill/>
          <a:ln w="6350">
            <a:solidFill>
              <a:srgbClr val="E2E8F4"/>
            </a:solidFill>
            <a:prstDash val="solid"/>
          </a:ln>
        </p:spPr>
      </p:sp>
      <p:sp>
        <p:nvSpPr>
          <p:cNvPr id="5" name="Text 3"/>
          <p:cNvSpPr/>
          <p:nvPr/>
        </p:nvSpPr>
        <p:spPr>
          <a:xfrm>
            <a:off x="609600" y="112501"/>
            <a:ext cx="228600" cy="228600"/>
          </a:xfrm>
          <a:custGeom>
            <a:avLst/>
            <a:gdLst/>
            <a:ahLst/>
            <a:cxnLst/>
            <a:rect l="l" t="t" r="r" b="b"/>
            <a:pathLst>
              <a:path w="228600" h="228600">
                <a:moveTo>
                  <a:pt x="114300" y="0"/>
                </a:moveTo>
                <a:lnTo>
                  <a:pt x="114300" y="0"/>
                </a:lnTo>
                <a:arcTo hR="114300" wR="114300" stAng="16200000" swAng="5400000"/>
                <a:lnTo>
                  <a:pt x="228600" y="114300"/>
                </a:lnTo>
                <a:arcTo hR="114300" wR="114300" stAng="0" swAng="5400000"/>
                <a:lnTo>
                  <a:pt x="114300" y="228600"/>
                </a:lnTo>
                <a:arcTo hR="114300" wR="114300" stAng="5400000" swAng="5400000"/>
                <a:lnTo>
                  <a:pt x="0" y="114300"/>
                </a:lnTo>
                <a:arcTo hR="114300" wR="114300" stAng="10800000" swAng="5400000"/>
                <a:close/>
              </a:path>
            </a:pathLst>
          </a:custGeom>
          <a:solidFill>
            <a:srgbClr val="4F6BED"/>
          </a:solidFill>
          <a:ln/>
        </p:spPr>
        <p:txBody>
          <a:bodyPr wrap="square" lIns="0" tIns="0" rIns="0" bIns="0" rtlCol="0" anchor="ctr">
            <a:normAutofit/>
          </a:bodyPr>
          <a:lstStyle/>
          <a:p>
            <a:pPr algn="ctr" indent="0" marL="0">
              <a:lnSpc>
                <a:spcPts val="1680"/>
              </a:lnSpc>
              <a:buNone/>
            </a:pPr>
            <a:r>
              <a:rPr lang="en-US" sz="1200" dirty="0">
                <a:solidFill>
                  <a:srgbClr val="FFFFFF"/>
                </a:solidFill>
                <a:latin typeface="Roboto" pitchFamily="34" charset="0"/>
                <a:ea typeface="Roboto" pitchFamily="34" charset="-122"/>
                <a:cs typeface="Roboto" pitchFamily="34" charset="-120"/>
              </a:rPr>
              <a:t>S</a:t>
            </a:r>
            <a:endParaRPr lang="en-US" sz="1200" dirty="0"/>
          </a:p>
        </p:txBody>
      </p:sp>
      <p:sp>
        <p:nvSpPr>
          <p:cNvPr id="6" name="Text 4"/>
          <p:cNvSpPr/>
          <p:nvPr/>
        </p:nvSpPr>
        <p:spPr>
          <a:xfrm>
            <a:off x="939800" y="111230"/>
            <a:ext cx="86182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336"/>
                </a:solidFill>
                <a:latin typeface="Roboto" pitchFamily="34" charset="0"/>
                <a:ea typeface="Roboto" pitchFamily="34" charset="-122"/>
                <a:cs typeface="Roboto" pitchFamily="34" charset="-120"/>
              </a:rPr>
              <a:t>Schedulix</a:t>
            </a:r>
            <a:endParaRPr lang="en-US" sz="1300" dirty="0"/>
          </a:p>
        </p:txBody>
      </p:sp>
      <p:sp>
        <p:nvSpPr>
          <p:cNvPr id="7" name="Text 5"/>
          <p:cNvSpPr/>
          <p:nvPr/>
        </p:nvSpPr>
        <p:spPr>
          <a:xfrm>
            <a:off x="11014710" y="94297"/>
            <a:ext cx="564515" cy="265007"/>
          </a:xfrm>
          <a:custGeom>
            <a:avLst/>
            <a:gdLst/>
            <a:ahLst/>
            <a:cxnLst/>
            <a:rect l="l" t="t" r="r" b="b"/>
            <a:pathLst>
              <a:path w="564515" h="265007">
                <a:moveTo>
                  <a:pt x="132503" y="0"/>
                </a:moveTo>
                <a:lnTo>
                  <a:pt x="432012" y="0"/>
                </a:lnTo>
                <a:arcTo hR="132503" wR="132503" stAng="16200000" swAng="5400000"/>
                <a:lnTo>
                  <a:pt x="564515" y="132503"/>
                </a:lnTo>
                <a:arcTo hR="132503" wR="132503" stAng="0" swAng="5400000"/>
                <a:lnTo>
                  <a:pt x="132503" y="265007"/>
                </a:lnTo>
                <a:arcTo hR="132503" wR="132503" stAng="5400000" swAng="5400000"/>
                <a:lnTo>
                  <a:pt x="0" y="132503"/>
                </a:lnTo>
                <a:arcTo hR="132503" wR="132503" stAng="10800000" swAng="5400000"/>
                <a:close/>
              </a:path>
            </a:pathLst>
          </a:custGeom>
          <a:noFill/>
          <a:ln w="6350">
            <a:solidFill>
              <a:srgbClr val="CBD5E8"/>
            </a:solidFill>
            <a:prstDash val="solid"/>
          </a:ln>
        </p:spPr>
        <p:txBody>
          <a:bodyPr wrap="none" lIns="0" tIns="0" rIns="0" bIns="0" rtlCol="0" anchor="ctr">
            <a:normAutofit/>
          </a:bodyPr>
          <a:lstStyle/>
          <a:p>
            <a:pPr algn="ctr" indent="0" marL="0">
              <a:lnSpc>
                <a:spcPts val="1680"/>
              </a:lnSpc>
              <a:buNone/>
            </a:pPr>
            <a:r>
              <a:rPr lang="en-US" sz="1200" dirty="0">
                <a:solidFill>
                  <a:srgbClr val="64748B"/>
                </a:solidFill>
                <a:latin typeface="Roboto" pitchFamily="34" charset="0"/>
                <a:ea typeface="Roboto" pitchFamily="34" charset="-122"/>
                <a:cs typeface="Roboto" pitchFamily="34" charset="-120"/>
              </a:rPr>
              <a:t>2 / 4</a:t>
            </a:r>
            <a:endParaRPr lang="en-US" sz="1200" dirty="0"/>
          </a:p>
        </p:txBody>
      </p:sp>
      <p:sp>
        <p:nvSpPr>
          <p:cNvPr id="8" name="Text 6"/>
          <p:cNvSpPr/>
          <p:nvPr>
            <p:ph type="title"/>
          </p:nvPr>
        </p:nvSpPr>
        <p:spPr>
          <a:xfrm>
            <a:off x="609600" y="812800"/>
            <a:ext cx="11301984"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0F172A"/>
                </a:solidFill>
                <a:latin typeface="Roboto" pitchFamily="34" charset="0"/>
                <a:ea typeface="Roboto" pitchFamily="34" charset="-122"/>
                <a:cs typeface="Roboto" pitchFamily="34" charset="-120"/>
              </a:rPr>
              <a:t>Layered Architecture &amp; Technology Ecosystem</a:t>
            </a:r>
            <a:endParaRPr lang="en-US" sz="2800" dirty="0"/>
          </a:p>
        </p:txBody>
      </p:sp>
      <p:sp>
        <p:nvSpPr>
          <p:cNvPr id="9" name="Text 7"/>
          <p:cNvSpPr/>
          <p:nvPr/>
        </p:nvSpPr>
        <p:spPr>
          <a:xfrm>
            <a:off x="609600" y="1259840"/>
            <a:ext cx="1130198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64748B"/>
                </a:solidFill>
                <a:latin typeface="Roboto" pitchFamily="34" charset="0"/>
                <a:ea typeface="Roboto" pitchFamily="34" charset="-122"/>
                <a:cs typeface="Roboto" pitchFamily="34" charset="-120"/>
              </a:rPr>
              <a:t>Decoupled 3-tier enterprise architecture</a:t>
            </a:r>
            <a:endParaRPr lang="en-US" sz="1400" dirty="0"/>
          </a:p>
        </p:txBody>
      </p:sp>
      <p:sp>
        <p:nvSpPr>
          <p:cNvPr id="10" name="Shape 8"/>
          <p:cNvSpPr/>
          <p:nvPr/>
        </p:nvSpPr>
        <p:spPr>
          <a:xfrm>
            <a:off x="612775" y="1895263"/>
            <a:ext cx="3134783" cy="1780540"/>
          </a:xfrm>
          <a:prstGeom prst="roundRect">
            <a:avLst>
              <a:gd name="adj" fmla="val 5528"/>
            </a:avLst>
          </a:prstGeom>
          <a:gradFill rotWithShape="1">
            <a:gsLst>
              <a:gs pos="0">
                <a:srgbClr val="FFFFFF"/>
              </a:gs>
              <a:gs pos="100000">
                <a:srgbClr val="F4F7FF"/>
              </a:gs>
            </a:gsLst>
            <a:lin ang="5400000" scaled="0"/>
          </a:gradFill>
          <a:ln w="6350">
            <a:solidFill>
              <a:srgbClr val="E2E8F4"/>
            </a:solidFill>
            <a:prstDash val="solid"/>
          </a:ln>
        </p:spPr>
      </p:sp>
      <p:sp>
        <p:nvSpPr>
          <p:cNvPr id="11" name="Text 9"/>
          <p:cNvSpPr/>
          <p:nvPr/>
        </p:nvSpPr>
        <p:spPr>
          <a:xfrm>
            <a:off x="816398" y="2098887"/>
            <a:ext cx="2809363"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0288D1"/>
                </a:solidFill>
                <a:latin typeface="Roboto" pitchFamily="34" charset="0"/>
                <a:ea typeface="Roboto" pitchFamily="34" charset="-122"/>
                <a:cs typeface="Roboto" pitchFamily="34" charset="-120"/>
              </a:rPr>
              <a:t>FRONTEND</a:t>
            </a:r>
            <a:endParaRPr lang="en-US" sz="1200" dirty="0"/>
          </a:p>
        </p:txBody>
      </p:sp>
      <p:sp>
        <p:nvSpPr>
          <p:cNvPr id="12" name="Text 10"/>
          <p:cNvSpPr/>
          <p:nvPr/>
        </p:nvSpPr>
        <p:spPr>
          <a:xfrm>
            <a:off x="816398" y="2426546"/>
            <a:ext cx="2809363" cy="299720"/>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1B2336"/>
                </a:solidFill>
                <a:latin typeface="Roboto" pitchFamily="34" charset="0"/>
                <a:ea typeface="Roboto" pitchFamily="34" charset="-122"/>
                <a:cs typeface="Roboto" pitchFamily="34" charset="-120"/>
              </a:rPr>
              <a:t>React 19 + Vite</a:t>
            </a:r>
            <a:endParaRPr lang="en-US" sz="1800" dirty="0"/>
          </a:p>
        </p:txBody>
      </p:sp>
      <p:sp>
        <p:nvSpPr>
          <p:cNvPr id="13" name="Text 11"/>
          <p:cNvSpPr/>
          <p:nvPr/>
        </p:nvSpPr>
        <p:spPr>
          <a:xfrm>
            <a:off x="819573" y="2818342"/>
            <a:ext cx="948055" cy="290407"/>
          </a:xfrm>
          <a:custGeom>
            <a:avLst/>
            <a:gdLst/>
            <a:ahLst/>
            <a:cxnLst/>
            <a:rect l="l" t="t" r="r" b="b"/>
            <a:pathLst>
              <a:path w="948055" h="290407">
                <a:moveTo>
                  <a:pt x="145203" y="0"/>
                </a:moveTo>
                <a:lnTo>
                  <a:pt x="802852" y="0"/>
                </a:lnTo>
                <a:arcTo hR="145203" wR="145203" stAng="16200000" swAng="5400000"/>
                <a:lnTo>
                  <a:pt x="948055" y="145203"/>
                </a:lnTo>
                <a:arcTo hR="145203" wR="145203" stAng="0" swAng="5400000"/>
                <a:lnTo>
                  <a:pt x="145203" y="290407"/>
                </a:lnTo>
                <a:arcTo hR="145203" wR="145203" stAng="5400000" swAng="5400000"/>
                <a:lnTo>
                  <a:pt x="0" y="145203"/>
                </a:lnTo>
                <a:arcTo hR="145203" wR="145203" stAng="10800000" swAng="5400000"/>
                <a:close/>
              </a:path>
            </a:pathLst>
          </a:custGeom>
          <a:noFill/>
          <a:ln w="6350">
            <a:solidFill>
              <a:srgbClr val="CBD5E8"/>
            </a:solidFill>
            <a:prstDash val="solid"/>
          </a:ln>
        </p:spPr>
        <p:txBody>
          <a:bodyPr wrap="none" lIns="0" tIns="0" rIns="0" bIns="0" rtlCol="0" anchor="ctr">
            <a:normAutofit/>
          </a:bodyPr>
          <a:lstStyle/>
          <a:p>
            <a:pPr algn="ctr" indent="0" marL="0">
              <a:lnSpc>
                <a:spcPts val="1680"/>
              </a:lnSpc>
              <a:buNone/>
            </a:pPr>
            <a:r>
              <a:rPr lang="en-US" sz="1200" dirty="0">
                <a:solidFill>
                  <a:srgbClr val="475569"/>
                </a:solidFill>
                <a:latin typeface="Roboto" pitchFamily="34" charset="0"/>
                <a:ea typeface="Roboto" pitchFamily="34" charset="-122"/>
                <a:cs typeface="Roboto" pitchFamily="34" charset="-120"/>
              </a:rPr>
              <a:t>TypeScript</a:t>
            </a:r>
            <a:endParaRPr lang="en-US" sz="1200" dirty="0"/>
          </a:p>
        </p:txBody>
      </p:sp>
      <p:sp>
        <p:nvSpPr>
          <p:cNvPr id="14" name="Text 12"/>
          <p:cNvSpPr/>
          <p:nvPr/>
        </p:nvSpPr>
        <p:spPr>
          <a:xfrm>
            <a:off x="1837478" y="2818342"/>
            <a:ext cx="786553" cy="290407"/>
          </a:xfrm>
          <a:custGeom>
            <a:avLst/>
            <a:gdLst/>
            <a:ahLst/>
            <a:cxnLst/>
            <a:rect l="l" t="t" r="r" b="b"/>
            <a:pathLst>
              <a:path w="786553" h="290407">
                <a:moveTo>
                  <a:pt x="145203" y="0"/>
                </a:moveTo>
                <a:lnTo>
                  <a:pt x="641350" y="0"/>
                </a:lnTo>
                <a:arcTo hR="145203" wR="145203" stAng="16200000" swAng="5400000"/>
                <a:lnTo>
                  <a:pt x="786553" y="145203"/>
                </a:lnTo>
                <a:arcTo hR="145203" wR="145203" stAng="0" swAng="5400000"/>
                <a:lnTo>
                  <a:pt x="145203" y="290407"/>
                </a:lnTo>
                <a:arcTo hR="145203" wR="145203" stAng="5400000" swAng="5400000"/>
                <a:lnTo>
                  <a:pt x="0" y="145203"/>
                </a:lnTo>
                <a:arcTo hR="145203" wR="145203" stAng="10800000" swAng="5400000"/>
                <a:close/>
              </a:path>
            </a:pathLst>
          </a:custGeom>
          <a:noFill/>
          <a:ln w="6350">
            <a:solidFill>
              <a:srgbClr val="CBD5E8"/>
            </a:solidFill>
            <a:prstDash val="solid"/>
          </a:ln>
        </p:spPr>
        <p:txBody>
          <a:bodyPr wrap="none" lIns="0" tIns="0" rIns="0" bIns="0" rtlCol="0" anchor="ctr">
            <a:normAutofit/>
          </a:bodyPr>
          <a:lstStyle/>
          <a:p>
            <a:pPr algn="ctr" indent="0" marL="0">
              <a:lnSpc>
                <a:spcPts val="1680"/>
              </a:lnSpc>
              <a:buNone/>
            </a:pPr>
            <a:r>
              <a:rPr lang="en-US" sz="1200" dirty="0">
                <a:solidFill>
                  <a:srgbClr val="475569"/>
                </a:solidFill>
                <a:latin typeface="Roboto" pitchFamily="34" charset="0"/>
                <a:ea typeface="Roboto" pitchFamily="34" charset="-122"/>
                <a:cs typeface="Roboto" pitchFamily="34" charset="-120"/>
              </a:rPr>
              <a:t>MUI v9+</a:t>
            </a:r>
            <a:endParaRPr lang="en-US" sz="1200" dirty="0"/>
          </a:p>
        </p:txBody>
      </p:sp>
      <p:sp>
        <p:nvSpPr>
          <p:cNvPr id="15" name="Text 13"/>
          <p:cNvSpPr/>
          <p:nvPr/>
        </p:nvSpPr>
        <p:spPr>
          <a:xfrm>
            <a:off x="2693882" y="2818342"/>
            <a:ext cx="794597" cy="290407"/>
          </a:xfrm>
          <a:custGeom>
            <a:avLst/>
            <a:gdLst/>
            <a:ahLst/>
            <a:cxnLst/>
            <a:rect l="l" t="t" r="r" b="b"/>
            <a:pathLst>
              <a:path w="794597" h="290407">
                <a:moveTo>
                  <a:pt x="145203" y="0"/>
                </a:moveTo>
                <a:lnTo>
                  <a:pt x="649393" y="0"/>
                </a:lnTo>
                <a:arcTo hR="145203" wR="145203" stAng="16200000" swAng="5400000"/>
                <a:lnTo>
                  <a:pt x="794597" y="145203"/>
                </a:lnTo>
                <a:arcTo hR="145203" wR="145203" stAng="0" swAng="5400000"/>
                <a:lnTo>
                  <a:pt x="145203" y="290407"/>
                </a:lnTo>
                <a:arcTo hR="145203" wR="145203" stAng="5400000" swAng="5400000"/>
                <a:lnTo>
                  <a:pt x="0" y="145203"/>
                </a:lnTo>
                <a:arcTo hR="145203" wR="145203" stAng="10800000" swAng="5400000"/>
                <a:close/>
              </a:path>
            </a:pathLst>
          </a:custGeom>
          <a:noFill/>
          <a:ln w="6350">
            <a:solidFill>
              <a:srgbClr val="CBD5E8"/>
            </a:solidFill>
            <a:prstDash val="solid"/>
          </a:ln>
        </p:spPr>
        <p:txBody>
          <a:bodyPr wrap="none" lIns="0" tIns="0" rIns="0" bIns="0" rtlCol="0" anchor="ctr">
            <a:normAutofit/>
          </a:bodyPr>
          <a:lstStyle/>
          <a:p>
            <a:pPr algn="ctr" indent="0" marL="0">
              <a:lnSpc>
                <a:spcPts val="1680"/>
              </a:lnSpc>
              <a:buNone/>
            </a:pPr>
            <a:r>
              <a:rPr lang="en-US" sz="1200" dirty="0">
                <a:solidFill>
                  <a:srgbClr val="475569"/>
                </a:solidFill>
                <a:latin typeface="Roboto" pitchFamily="34" charset="0"/>
                <a:ea typeface="Roboto" pitchFamily="34" charset="-122"/>
                <a:cs typeface="Roboto" pitchFamily="34" charset="-120"/>
              </a:rPr>
              <a:t>Emotion</a:t>
            </a:r>
            <a:endParaRPr lang="en-US" sz="1200" dirty="0"/>
          </a:p>
        </p:txBody>
      </p:sp>
      <p:sp>
        <p:nvSpPr>
          <p:cNvPr id="16" name="Text 14"/>
          <p:cNvSpPr/>
          <p:nvPr/>
        </p:nvSpPr>
        <p:spPr>
          <a:xfrm>
            <a:off x="819573" y="3178598"/>
            <a:ext cx="873866" cy="290407"/>
          </a:xfrm>
          <a:custGeom>
            <a:avLst/>
            <a:gdLst/>
            <a:ahLst/>
            <a:cxnLst/>
            <a:rect l="l" t="t" r="r" b="b"/>
            <a:pathLst>
              <a:path w="873866" h="290407">
                <a:moveTo>
                  <a:pt x="145203" y="0"/>
                </a:moveTo>
                <a:lnTo>
                  <a:pt x="728663" y="0"/>
                </a:lnTo>
                <a:arcTo hR="145203" wR="145203" stAng="16200000" swAng="5400000"/>
                <a:lnTo>
                  <a:pt x="873866" y="145203"/>
                </a:lnTo>
                <a:arcTo hR="145203" wR="145203" stAng="0" swAng="5400000"/>
                <a:lnTo>
                  <a:pt x="145203" y="290407"/>
                </a:lnTo>
                <a:arcTo hR="145203" wR="145203" stAng="5400000" swAng="5400000"/>
                <a:lnTo>
                  <a:pt x="0" y="145203"/>
                </a:lnTo>
                <a:arcTo hR="145203" wR="145203" stAng="10800000" swAng="5400000"/>
                <a:close/>
              </a:path>
            </a:pathLst>
          </a:custGeom>
          <a:noFill/>
          <a:ln w="6350">
            <a:solidFill>
              <a:srgbClr val="CBD5E8"/>
            </a:solidFill>
            <a:prstDash val="solid"/>
          </a:ln>
        </p:spPr>
        <p:txBody>
          <a:bodyPr wrap="none" lIns="0" tIns="0" rIns="0" bIns="0" rtlCol="0" anchor="ctr">
            <a:normAutofit/>
          </a:bodyPr>
          <a:lstStyle/>
          <a:p>
            <a:pPr algn="ctr" indent="0" marL="0">
              <a:lnSpc>
                <a:spcPts val="1680"/>
              </a:lnSpc>
              <a:buNone/>
            </a:pPr>
            <a:r>
              <a:rPr lang="en-US" sz="1200" dirty="0">
                <a:solidFill>
                  <a:srgbClr val="475569"/>
                </a:solidFill>
                <a:latin typeface="Roboto" pitchFamily="34" charset="0"/>
                <a:ea typeface="Roboto" pitchFamily="34" charset="-122"/>
                <a:cs typeface="Roboto" pitchFamily="34" charset="-120"/>
              </a:rPr>
              <a:t>Router v7</a:t>
            </a:r>
            <a:endParaRPr lang="en-US" sz="1200" dirty="0"/>
          </a:p>
        </p:txBody>
      </p:sp>
      <p:sp>
        <p:nvSpPr>
          <p:cNvPr id="17" name="Text 15"/>
          <p:cNvSpPr/>
          <p:nvPr/>
        </p:nvSpPr>
        <p:spPr>
          <a:xfrm>
            <a:off x="1763289" y="3178598"/>
            <a:ext cx="1018223" cy="290407"/>
          </a:xfrm>
          <a:custGeom>
            <a:avLst/>
            <a:gdLst/>
            <a:ahLst/>
            <a:cxnLst/>
            <a:rect l="l" t="t" r="r" b="b"/>
            <a:pathLst>
              <a:path w="1018223" h="290407">
                <a:moveTo>
                  <a:pt x="145203" y="0"/>
                </a:moveTo>
                <a:lnTo>
                  <a:pt x="873019" y="0"/>
                </a:lnTo>
                <a:arcTo hR="145203" wR="145203" stAng="16200000" swAng="5400000"/>
                <a:lnTo>
                  <a:pt x="1018223" y="145203"/>
                </a:lnTo>
                <a:arcTo hR="145203" wR="145203" stAng="0" swAng="5400000"/>
                <a:lnTo>
                  <a:pt x="145203" y="290407"/>
                </a:lnTo>
                <a:arcTo hR="145203" wR="145203" stAng="5400000" swAng="5400000"/>
                <a:lnTo>
                  <a:pt x="0" y="145203"/>
                </a:lnTo>
                <a:arcTo hR="145203" wR="145203" stAng="10800000" swAng="5400000"/>
                <a:close/>
              </a:path>
            </a:pathLst>
          </a:custGeom>
          <a:noFill/>
          <a:ln w="6350">
            <a:solidFill>
              <a:srgbClr val="CBD5E8"/>
            </a:solidFill>
            <a:prstDash val="solid"/>
          </a:ln>
        </p:spPr>
        <p:txBody>
          <a:bodyPr wrap="none" lIns="0" tIns="0" rIns="0" bIns="0" rtlCol="0" anchor="ctr">
            <a:normAutofit/>
          </a:bodyPr>
          <a:lstStyle/>
          <a:p>
            <a:pPr algn="ctr" indent="0" marL="0">
              <a:lnSpc>
                <a:spcPts val="1680"/>
              </a:lnSpc>
              <a:buNone/>
            </a:pPr>
            <a:r>
              <a:rPr lang="en-US" sz="1200" dirty="0">
                <a:solidFill>
                  <a:srgbClr val="475569"/>
                </a:solidFill>
                <a:latin typeface="Roboto" pitchFamily="34" charset="0"/>
                <a:ea typeface="Roboto" pitchFamily="34" charset="-122"/>
                <a:cs typeface="Roboto" pitchFamily="34" charset="-120"/>
              </a:rPr>
              <a:t>Dark / Light</a:t>
            </a:r>
            <a:endParaRPr lang="en-US" sz="1200" dirty="0"/>
          </a:p>
        </p:txBody>
      </p:sp>
      <p:sp>
        <p:nvSpPr>
          <p:cNvPr id="18" name="Text 16"/>
          <p:cNvSpPr/>
          <p:nvPr/>
        </p:nvSpPr>
        <p:spPr>
          <a:xfrm>
            <a:off x="3826933" y="2572173"/>
            <a:ext cx="622300" cy="4521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F6BED"/>
                </a:solidFill>
                <a:latin typeface="Roboto" pitchFamily="34" charset="0"/>
                <a:ea typeface="Roboto" pitchFamily="34" charset="-122"/>
                <a:cs typeface="Roboto" pitchFamily="34" charset="-120"/>
              </a:rPr>
              <a:t>REST</a:t>
            </a:r>
            <a:endParaRPr lang="en-US" sz="1200" dirty="0"/>
          </a:p>
          <a:p>
            <a:pPr algn="ctr" indent="0" marL="0">
              <a:lnSpc>
                <a:spcPts val="1680"/>
              </a:lnSpc>
              <a:buNone/>
            </a:pPr>
            <a:r>
              <a:rPr lang="en-US" sz="1200" dirty="0">
                <a:solidFill>
                  <a:srgbClr val="4F6BED"/>
                </a:solidFill>
                <a:latin typeface="Roboto" pitchFamily="34" charset="0"/>
                <a:ea typeface="Roboto" pitchFamily="34" charset="-122"/>
                <a:cs typeface="Roboto" pitchFamily="34" charset="-120"/>
              </a:rPr>
              <a:t>→</a:t>
            </a:r>
            <a:endParaRPr lang="en-US" sz="1200" dirty="0"/>
          </a:p>
        </p:txBody>
      </p:sp>
      <p:sp>
        <p:nvSpPr>
          <p:cNvPr id="19" name="Shape 17"/>
          <p:cNvSpPr/>
          <p:nvPr/>
        </p:nvSpPr>
        <p:spPr>
          <a:xfrm>
            <a:off x="4528608" y="1715135"/>
            <a:ext cx="3134783" cy="2140797"/>
          </a:xfrm>
          <a:prstGeom prst="roundRect">
            <a:avLst>
              <a:gd name="adj" fmla="val 4598"/>
            </a:avLst>
          </a:prstGeom>
          <a:gradFill rotWithShape="1">
            <a:gsLst>
              <a:gs pos="0">
                <a:srgbClr val="FFFFFF"/>
              </a:gs>
              <a:gs pos="100000">
                <a:srgbClr val="F4F7FF"/>
              </a:gs>
            </a:gsLst>
            <a:lin ang="5400000" scaled="0"/>
          </a:gradFill>
          <a:ln w="6350">
            <a:solidFill>
              <a:srgbClr val="E2E8F4"/>
            </a:solidFill>
            <a:prstDash val="solid"/>
          </a:ln>
        </p:spPr>
      </p:sp>
      <p:sp>
        <p:nvSpPr>
          <p:cNvPr id="20" name="Text 18"/>
          <p:cNvSpPr/>
          <p:nvPr/>
        </p:nvSpPr>
        <p:spPr>
          <a:xfrm>
            <a:off x="4732232" y="1918758"/>
            <a:ext cx="2809363"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F6BED"/>
                </a:solidFill>
                <a:latin typeface="Roboto" pitchFamily="34" charset="0"/>
                <a:ea typeface="Roboto" pitchFamily="34" charset="-122"/>
                <a:cs typeface="Roboto" pitchFamily="34" charset="-120"/>
              </a:rPr>
              <a:t>API BACKEND</a:t>
            </a:r>
            <a:endParaRPr lang="en-US" sz="1200" dirty="0"/>
          </a:p>
        </p:txBody>
      </p:sp>
      <p:sp>
        <p:nvSpPr>
          <p:cNvPr id="21" name="Text 19"/>
          <p:cNvSpPr/>
          <p:nvPr/>
        </p:nvSpPr>
        <p:spPr>
          <a:xfrm>
            <a:off x="4732232" y="2246418"/>
            <a:ext cx="2809363" cy="299720"/>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1B2336"/>
                </a:solidFill>
                <a:latin typeface="Roboto" pitchFamily="34" charset="0"/>
                <a:ea typeface="Roboto" pitchFamily="34" charset="-122"/>
                <a:cs typeface="Roboto" pitchFamily="34" charset="-120"/>
              </a:rPr>
              <a:t>PHP 8.2 + Slim 4</a:t>
            </a:r>
            <a:endParaRPr lang="en-US" sz="1800" dirty="0"/>
          </a:p>
        </p:txBody>
      </p:sp>
      <p:sp>
        <p:nvSpPr>
          <p:cNvPr id="22" name="Text 20"/>
          <p:cNvSpPr/>
          <p:nvPr/>
        </p:nvSpPr>
        <p:spPr>
          <a:xfrm>
            <a:off x="4735407" y="2638213"/>
            <a:ext cx="637752" cy="290407"/>
          </a:xfrm>
          <a:custGeom>
            <a:avLst/>
            <a:gdLst/>
            <a:ahLst/>
            <a:cxnLst/>
            <a:rect l="l" t="t" r="r" b="b"/>
            <a:pathLst>
              <a:path w="637752" h="290407">
                <a:moveTo>
                  <a:pt x="145203" y="0"/>
                </a:moveTo>
                <a:lnTo>
                  <a:pt x="492548" y="0"/>
                </a:lnTo>
                <a:arcTo hR="145203" wR="145203" stAng="16200000" swAng="5400000"/>
                <a:lnTo>
                  <a:pt x="637752" y="145203"/>
                </a:lnTo>
                <a:arcTo hR="145203" wR="145203" stAng="0" swAng="5400000"/>
                <a:lnTo>
                  <a:pt x="145203" y="290407"/>
                </a:lnTo>
                <a:arcTo hR="145203" wR="145203" stAng="5400000" swAng="5400000"/>
                <a:lnTo>
                  <a:pt x="0" y="145203"/>
                </a:lnTo>
                <a:arcTo hR="145203" wR="145203" stAng="10800000" swAng="5400000"/>
                <a:close/>
              </a:path>
            </a:pathLst>
          </a:custGeom>
          <a:noFill/>
          <a:ln w="6350">
            <a:solidFill>
              <a:srgbClr val="CBD5E8"/>
            </a:solidFill>
            <a:prstDash val="solid"/>
          </a:ln>
        </p:spPr>
        <p:txBody>
          <a:bodyPr wrap="none" lIns="0" tIns="0" rIns="0" bIns="0" rtlCol="0" anchor="ctr">
            <a:normAutofit/>
          </a:bodyPr>
          <a:lstStyle/>
          <a:p>
            <a:pPr algn="ctr" indent="0" marL="0">
              <a:lnSpc>
                <a:spcPts val="1680"/>
              </a:lnSpc>
              <a:buNone/>
            </a:pPr>
            <a:r>
              <a:rPr lang="en-US" sz="1200" dirty="0">
                <a:solidFill>
                  <a:srgbClr val="475569"/>
                </a:solidFill>
                <a:latin typeface="Roboto" pitchFamily="34" charset="0"/>
                <a:ea typeface="Roboto" pitchFamily="34" charset="-122"/>
                <a:cs typeface="Roboto" pitchFamily="34" charset="-120"/>
              </a:rPr>
              <a:t>PSR-7</a:t>
            </a:r>
            <a:endParaRPr lang="en-US" sz="1200" dirty="0"/>
          </a:p>
        </p:txBody>
      </p:sp>
      <p:sp>
        <p:nvSpPr>
          <p:cNvPr id="23" name="Text 21"/>
          <p:cNvSpPr/>
          <p:nvPr/>
        </p:nvSpPr>
        <p:spPr>
          <a:xfrm>
            <a:off x="5443008" y="2638213"/>
            <a:ext cx="971762" cy="290407"/>
          </a:xfrm>
          <a:custGeom>
            <a:avLst/>
            <a:gdLst/>
            <a:ahLst/>
            <a:cxnLst/>
            <a:rect l="l" t="t" r="r" b="b"/>
            <a:pathLst>
              <a:path w="971762" h="290407">
                <a:moveTo>
                  <a:pt x="145203" y="0"/>
                </a:moveTo>
                <a:lnTo>
                  <a:pt x="826558" y="0"/>
                </a:lnTo>
                <a:arcTo hR="145203" wR="145203" stAng="16200000" swAng="5400000"/>
                <a:lnTo>
                  <a:pt x="971762" y="145203"/>
                </a:lnTo>
                <a:arcTo hR="145203" wR="145203" stAng="0" swAng="5400000"/>
                <a:lnTo>
                  <a:pt x="145203" y="290407"/>
                </a:lnTo>
                <a:arcTo hR="145203" wR="145203" stAng="5400000" swAng="5400000"/>
                <a:lnTo>
                  <a:pt x="0" y="145203"/>
                </a:lnTo>
                <a:arcTo hR="145203" wR="145203" stAng="10800000" swAng="5400000"/>
                <a:close/>
              </a:path>
            </a:pathLst>
          </a:custGeom>
          <a:noFill/>
          <a:ln w="6350">
            <a:solidFill>
              <a:srgbClr val="CBD5E8"/>
            </a:solidFill>
            <a:prstDash val="solid"/>
          </a:ln>
        </p:spPr>
        <p:txBody>
          <a:bodyPr wrap="none" lIns="0" tIns="0" rIns="0" bIns="0" rtlCol="0" anchor="ctr">
            <a:normAutofit/>
          </a:bodyPr>
          <a:lstStyle/>
          <a:p>
            <a:pPr algn="ctr" indent="0" marL="0">
              <a:lnSpc>
                <a:spcPts val="1680"/>
              </a:lnSpc>
              <a:buNone/>
            </a:pPr>
            <a:r>
              <a:rPr lang="en-US" sz="1200" dirty="0">
                <a:solidFill>
                  <a:srgbClr val="475569"/>
                </a:solidFill>
                <a:latin typeface="Roboto" pitchFamily="34" charset="0"/>
                <a:ea typeface="Roboto" pitchFamily="34" charset="-122"/>
                <a:cs typeface="Roboto" pitchFamily="34" charset="-120"/>
              </a:rPr>
              <a:t>Controllers</a:t>
            </a:r>
            <a:endParaRPr lang="en-US" sz="1200" dirty="0"/>
          </a:p>
        </p:txBody>
      </p:sp>
      <p:sp>
        <p:nvSpPr>
          <p:cNvPr id="24" name="Text 22"/>
          <p:cNvSpPr/>
          <p:nvPr/>
        </p:nvSpPr>
        <p:spPr>
          <a:xfrm>
            <a:off x="6484620" y="2638213"/>
            <a:ext cx="804016" cy="290407"/>
          </a:xfrm>
          <a:custGeom>
            <a:avLst/>
            <a:gdLst/>
            <a:ahLst/>
            <a:cxnLst/>
            <a:rect l="l" t="t" r="r" b="b"/>
            <a:pathLst>
              <a:path w="804016" h="290407">
                <a:moveTo>
                  <a:pt x="145203" y="0"/>
                </a:moveTo>
                <a:lnTo>
                  <a:pt x="658813" y="0"/>
                </a:lnTo>
                <a:arcTo hR="145203" wR="145203" stAng="16200000" swAng="5400000"/>
                <a:lnTo>
                  <a:pt x="804016" y="145203"/>
                </a:lnTo>
                <a:arcTo hR="145203" wR="145203" stAng="0" swAng="5400000"/>
                <a:lnTo>
                  <a:pt x="145203" y="290407"/>
                </a:lnTo>
                <a:arcTo hR="145203" wR="145203" stAng="5400000" swAng="5400000"/>
                <a:lnTo>
                  <a:pt x="0" y="145203"/>
                </a:lnTo>
                <a:arcTo hR="145203" wR="145203" stAng="10800000" swAng="5400000"/>
                <a:close/>
              </a:path>
            </a:pathLst>
          </a:custGeom>
          <a:noFill/>
          <a:ln w="6350">
            <a:solidFill>
              <a:srgbClr val="CBD5E8"/>
            </a:solidFill>
            <a:prstDash val="solid"/>
          </a:ln>
        </p:spPr>
        <p:txBody>
          <a:bodyPr wrap="none" lIns="0" tIns="0" rIns="0" bIns="0" rtlCol="0" anchor="ctr">
            <a:normAutofit/>
          </a:bodyPr>
          <a:lstStyle/>
          <a:p>
            <a:pPr algn="ctr" indent="0" marL="0">
              <a:lnSpc>
                <a:spcPts val="1680"/>
              </a:lnSpc>
              <a:buNone/>
            </a:pPr>
            <a:r>
              <a:rPr lang="en-US" sz="1200" dirty="0">
                <a:solidFill>
                  <a:srgbClr val="475569"/>
                </a:solidFill>
                <a:latin typeface="Roboto" pitchFamily="34" charset="0"/>
                <a:ea typeface="Roboto" pitchFamily="34" charset="-122"/>
                <a:cs typeface="Roboto" pitchFamily="34" charset="-120"/>
              </a:rPr>
              <a:t>Services</a:t>
            </a:r>
            <a:endParaRPr lang="en-US" sz="1200" dirty="0"/>
          </a:p>
        </p:txBody>
      </p:sp>
      <p:sp>
        <p:nvSpPr>
          <p:cNvPr id="25" name="Text 23"/>
          <p:cNvSpPr/>
          <p:nvPr/>
        </p:nvSpPr>
        <p:spPr>
          <a:xfrm>
            <a:off x="4735407" y="2998470"/>
            <a:ext cx="1075796" cy="290407"/>
          </a:xfrm>
          <a:custGeom>
            <a:avLst/>
            <a:gdLst/>
            <a:ahLst/>
            <a:cxnLst/>
            <a:rect l="l" t="t" r="r" b="b"/>
            <a:pathLst>
              <a:path w="1075796" h="290407">
                <a:moveTo>
                  <a:pt x="145203" y="0"/>
                </a:moveTo>
                <a:lnTo>
                  <a:pt x="930592" y="0"/>
                </a:lnTo>
                <a:arcTo hR="145203" wR="145203" stAng="16200000" swAng="5400000"/>
                <a:lnTo>
                  <a:pt x="1075796" y="145203"/>
                </a:lnTo>
                <a:arcTo hR="145203" wR="145203" stAng="0" swAng="5400000"/>
                <a:lnTo>
                  <a:pt x="145203" y="290407"/>
                </a:lnTo>
                <a:arcTo hR="145203" wR="145203" stAng="5400000" swAng="5400000"/>
                <a:lnTo>
                  <a:pt x="0" y="145203"/>
                </a:lnTo>
                <a:arcTo hR="145203" wR="145203" stAng="10800000" swAng="5400000"/>
                <a:close/>
              </a:path>
            </a:pathLst>
          </a:custGeom>
          <a:noFill/>
          <a:ln w="6350">
            <a:solidFill>
              <a:srgbClr val="CBD5E8"/>
            </a:solidFill>
            <a:prstDash val="solid"/>
          </a:ln>
        </p:spPr>
        <p:txBody>
          <a:bodyPr wrap="none" lIns="0" tIns="0" rIns="0" bIns="0" rtlCol="0" anchor="ctr">
            <a:normAutofit/>
          </a:bodyPr>
          <a:lstStyle/>
          <a:p>
            <a:pPr algn="ctr" indent="0" marL="0">
              <a:lnSpc>
                <a:spcPts val="1680"/>
              </a:lnSpc>
              <a:buNone/>
            </a:pPr>
            <a:r>
              <a:rPr lang="en-US" sz="1200" dirty="0">
                <a:solidFill>
                  <a:srgbClr val="475569"/>
                </a:solidFill>
                <a:latin typeface="Roboto" pitchFamily="34" charset="0"/>
                <a:ea typeface="Roboto" pitchFamily="34" charset="-122"/>
                <a:cs typeface="Roboto" pitchFamily="34" charset="-120"/>
              </a:rPr>
              <a:t>Repositories</a:t>
            </a:r>
            <a:endParaRPr lang="en-US" sz="1200" dirty="0"/>
          </a:p>
        </p:txBody>
      </p:sp>
      <p:sp>
        <p:nvSpPr>
          <p:cNvPr id="26" name="Text 24"/>
          <p:cNvSpPr/>
          <p:nvPr/>
        </p:nvSpPr>
        <p:spPr>
          <a:xfrm>
            <a:off x="5881053" y="2998470"/>
            <a:ext cx="731838" cy="290407"/>
          </a:xfrm>
          <a:custGeom>
            <a:avLst/>
            <a:gdLst/>
            <a:ahLst/>
            <a:cxnLst/>
            <a:rect l="l" t="t" r="r" b="b"/>
            <a:pathLst>
              <a:path w="731838" h="290407">
                <a:moveTo>
                  <a:pt x="145203" y="0"/>
                </a:moveTo>
                <a:lnTo>
                  <a:pt x="586634" y="0"/>
                </a:lnTo>
                <a:arcTo hR="145203" wR="145203" stAng="16200000" swAng="5400000"/>
                <a:lnTo>
                  <a:pt x="731838" y="145203"/>
                </a:lnTo>
                <a:arcTo hR="145203" wR="145203" stAng="0" swAng="5400000"/>
                <a:lnTo>
                  <a:pt x="145203" y="290407"/>
                </a:lnTo>
                <a:arcTo hR="145203" wR="145203" stAng="5400000" swAng="5400000"/>
                <a:lnTo>
                  <a:pt x="0" y="145203"/>
                </a:lnTo>
                <a:arcTo hR="145203" wR="145203" stAng="10800000" swAng="5400000"/>
                <a:close/>
              </a:path>
            </a:pathLst>
          </a:custGeom>
          <a:noFill/>
          <a:ln w="6350">
            <a:solidFill>
              <a:srgbClr val="CBD5E8"/>
            </a:solidFill>
            <a:prstDash val="solid"/>
          </a:ln>
        </p:spPr>
        <p:txBody>
          <a:bodyPr wrap="none" lIns="0" tIns="0" rIns="0" bIns="0" rtlCol="0" anchor="ctr">
            <a:normAutofit/>
          </a:bodyPr>
          <a:lstStyle/>
          <a:p>
            <a:pPr algn="ctr" indent="0" marL="0">
              <a:lnSpc>
                <a:spcPts val="1680"/>
              </a:lnSpc>
              <a:buNone/>
            </a:pPr>
            <a:r>
              <a:rPr lang="en-US" sz="1200" dirty="0">
                <a:solidFill>
                  <a:srgbClr val="475569"/>
                </a:solidFill>
                <a:latin typeface="Roboto" pitchFamily="34" charset="0"/>
                <a:ea typeface="Roboto" pitchFamily="34" charset="-122"/>
                <a:cs typeface="Roboto" pitchFamily="34" charset="-120"/>
              </a:rPr>
              <a:t>Models</a:t>
            </a:r>
            <a:endParaRPr lang="en-US" sz="1200" dirty="0"/>
          </a:p>
        </p:txBody>
      </p:sp>
      <p:sp>
        <p:nvSpPr>
          <p:cNvPr id="27" name="Text 25"/>
          <p:cNvSpPr/>
          <p:nvPr/>
        </p:nvSpPr>
        <p:spPr>
          <a:xfrm>
            <a:off x="4735407" y="3358727"/>
            <a:ext cx="979170" cy="290407"/>
          </a:xfrm>
          <a:custGeom>
            <a:avLst/>
            <a:gdLst/>
            <a:ahLst/>
            <a:cxnLst/>
            <a:rect l="l" t="t" r="r" b="b"/>
            <a:pathLst>
              <a:path w="979170" h="290407">
                <a:moveTo>
                  <a:pt x="145203" y="0"/>
                </a:moveTo>
                <a:lnTo>
                  <a:pt x="833967" y="0"/>
                </a:lnTo>
                <a:arcTo hR="145203" wR="145203" stAng="16200000" swAng="5400000"/>
                <a:lnTo>
                  <a:pt x="979170" y="145203"/>
                </a:lnTo>
                <a:arcTo hR="145203" wR="145203" stAng="0" swAng="5400000"/>
                <a:lnTo>
                  <a:pt x="145203" y="290407"/>
                </a:lnTo>
                <a:arcTo hR="145203" wR="145203" stAng="5400000" swAng="5400000"/>
                <a:lnTo>
                  <a:pt x="0" y="145203"/>
                </a:lnTo>
                <a:arcTo hR="145203" wR="145203" stAng="10800000" swAng="5400000"/>
                <a:close/>
              </a:path>
            </a:pathLst>
          </a:custGeom>
          <a:noFill/>
          <a:ln w="6350">
            <a:solidFill>
              <a:srgbClr val="CBD5E8"/>
            </a:solidFill>
            <a:prstDash val="solid"/>
          </a:ln>
        </p:spPr>
        <p:txBody>
          <a:bodyPr wrap="none" lIns="0" tIns="0" rIns="0" bIns="0" rtlCol="0" anchor="ctr">
            <a:normAutofit/>
          </a:bodyPr>
          <a:lstStyle/>
          <a:p>
            <a:pPr algn="ctr" indent="0" marL="0">
              <a:lnSpc>
                <a:spcPts val="1680"/>
              </a:lnSpc>
              <a:buNone/>
            </a:pPr>
            <a:r>
              <a:rPr lang="en-US" sz="1200" dirty="0">
                <a:solidFill>
                  <a:srgbClr val="475569"/>
                </a:solidFill>
                <a:latin typeface="Roboto" pitchFamily="34" charset="0"/>
                <a:ea typeface="Roboto" pitchFamily="34" charset="-122"/>
                <a:cs typeface="Roboto" pitchFamily="34" charset="-120"/>
              </a:rPr>
              <a:t>Token auth</a:t>
            </a:r>
            <a:endParaRPr lang="en-US" sz="1200" dirty="0"/>
          </a:p>
        </p:txBody>
      </p:sp>
      <p:sp>
        <p:nvSpPr>
          <p:cNvPr id="28" name="Text 26"/>
          <p:cNvSpPr/>
          <p:nvPr/>
        </p:nvSpPr>
        <p:spPr>
          <a:xfrm>
            <a:off x="7742767" y="2572173"/>
            <a:ext cx="622300" cy="4521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F6BED"/>
                </a:solidFill>
                <a:latin typeface="Roboto" pitchFamily="34" charset="0"/>
                <a:ea typeface="Roboto" pitchFamily="34" charset="-122"/>
                <a:cs typeface="Roboto" pitchFamily="34" charset="-120"/>
              </a:rPr>
              <a:t>PDO</a:t>
            </a:r>
            <a:endParaRPr lang="en-US" sz="1200" dirty="0"/>
          </a:p>
          <a:p>
            <a:pPr algn="ctr" indent="0" marL="0">
              <a:lnSpc>
                <a:spcPts val="1680"/>
              </a:lnSpc>
              <a:buNone/>
            </a:pPr>
            <a:r>
              <a:rPr lang="en-US" sz="1200" dirty="0">
                <a:solidFill>
                  <a:srgbClr val="4F6BED"/>
                </a:solidFill>
                <a:latin typeface="Roboto" pitchFamily="34" charset="0"/>
                <a:ea typeface="Roboto" pitchFamily="34" charset="-122"/>
                <a:cs typeface="Roboto" pitchFamily="34" charset="-120"/>
              </a:rPr>
              <a:t>→</a:t>
            </a:r>
            <a:endParaRPr lang="en-US" sz="1200" dirty="0"/>
          </a:p>
        </p:txBody>
      </p:sp>
      <p:sp>
        <p:nvSpPr>
          <p:cNvPr id="29" name="Shape 27"/>
          <p:cNvSpPr/>
          <p:nvPr/>
        </p:nvSpPr>
        <p:spPr>
          <a:xfrm>
            <a:off x="8444442" y="1715135"/>
            <a:ext cx="3134783" cy="2140797"/>
          </a:xfrm>
          <a:prstGeom prst="roundRect">
            <a:avLst>
              <a:gd name="adj" fmla="val 4598"/>
            </a:avLst>
          </a:prstGeom>
          <a:gradFill rotWithShape="1">
            <a:gsLst>
              <a:gs pos="0">
                <a:srgbClr val="FFFFFF"/>
              </a:gs>
              <a:gs pos="100000">
                <a:srgbClr val="F4F7FF"/>
              </a:gs>
            </a:gsLst>
            <a:lin ang="5400000" scaled="0"/>
          </a:gradFill>
          <a:ln w="6350">
            <a:solidFill>
              <a:srgbClr val="E2E8F4"/>
            </a:solidFill>
            <a:prstDash val="solid"/>
          </a:ln>
        </p:spPr>
      </p:sp>
      <p:sp>
        <p:nvSpPr>
          <p:cNvPr id="30" name="Text 28"/>
          <p:cNvSpPr/>
          <p:nvPr/>
        </p:nvSpPr>
        <p:spPr>
          <a:xfrm>
            <a:off x="8648065" y="1918758"/>
            <a:ext cx="2809363"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E7D32"/>
                </a:solidFill>
                <a:latin typeface="Roboto" pitchFamily="34" charset="0"/>
                <a:ea typeface="Roboto" pitchFamily="34" charset="-122"/>
                <a:cs typeface="Roboto" pitchFamily="34" charset="-120"/>
              </a:rPr>
              <a:t>PERSISTENCE</a:t>
            </a:r>
            <a:endParaRPr lang="en-US" sz="1200" dirty="0"/>
          </a:p>
        </p:txBody>
      </p:sp>
      <p:sp>
        <p:nvSpPr>
          <p:cNvPr id="31" name="Text 29"/>
          <p:cNvSpPr/>
          <p:nvPr/>
        </p:nvSpPr>
        <p:spPr>
          <a:xfrm>
            <a:off x="8648065" y="2246418"/>
            <a:ext cx="2809363" cy="299720"/>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1B2336"/>
                </a:solidFill>
                <a:latin typeface="Roboto" pitchFamily="34" charset="0"/>
                <a:ea typeface="Roboto" pitchFamily="34" charset="-122"/>
                <a:cs typeface="Roboto" pitchFamily="34" charset="-120"/>
              </a:rPr>
              <a:t>MySQL 8</a:t>
            </a:r>
            <a:endParaRPr lang="en-US" sz="1800" dirty="0"/>
          </a:p>
        </p:txBody>
      </p:sp>
      <p:sp>
        <p:nvSpPr>
          <p:cNvPr id="32" name="Text 30"/>
          <p:cNvSpPr/>
          <p:nvPr/>
        </p:nvSpPr>
        <p:spPr>
          <a:xfrm>
            <a:off x="8651240" y="2638213"/>
            <a:ext cx="1645603" cy="290407"/>
          </a:xfrm>
          <a:custGeom>
            <a:avLst/>
            <a:gdLst/>
            <a:ahLst/>
            <a:cxnLst/>
            <a:rect l="l" t="t" r="r" b="b"/>
            <a:pathLst>
              <a:path w="1645603" h="290407">
                <a:moveTo>
                  <a:pt x="145203" y="0"/>
                </a:moveTo>
                <a:lnTo>
                  <a:pt x="1500399" y="0"/>
                </a:lnTo>
                <a:arcTo hR="145203" wR="145203" stAng="16200000" swAng="5400000"/>
                <a:lnTo>
                  <a:pt x="1645603" y="145203"/>
                </a:lnTo>
                <a:arcTo hR="145203" wR="145203" stAng="0" swAng="5400000"/>
                <a:lnTo>
                  <a:pt x="145203" y="290407"/>
                </a:lnTo>
                <a:arcTo hR="145203" wR="145203" stAng="5400000" swAng="5400000"/>
                <a:lnTo>
                  <a:pt x="0" y="145203"/>
                </a:lnTo>
                <a:arcTo hR="145203" wR="145203" stAng="10800000" swAng="5400000"/>
                <a:close/>
              </a:path>
            </a:pathLst>
          </a:custGeom>
          <a:noFill/>
          <a:ln w="6350">
            <a:solidFill>
              <a:srgbClr val="CBD5E8"/>
            </a:solidFill>
            <a:prstDash val="solid"/>
          </a:ln>
        </p:spPr>
        <p:txBody>
          <a:bodyPr wrap="none" lIns="0" tIns="0" rIns="0" bIns="0" rtlCol="0" anchor="ctr">
            <a:normAutofit/>
          </a:bodyPr>
          <a:lstStyle/>
          <a:p>
            <a:pPr algn="ctr" indent="0" marL="0">
              <a:lnSpc>
                <a:spcPts val="1680"/>
              </a:lnSpc>
              <a:buNone/>
            </a:pPr>
            <a:r>
              <a:rPr lang="en-US" sz="1200" dirty="0">
                <a:solidFill>
                  <a:srgbClr val="475569"/>
                </a:solidFill>
                <a:latin typeface="Roboto" pitchFamily="34" charset="0"/>
                <a:ea typeface="Roboto" pitchFamily="34" charset="-122"/>
                <a:cs typeface="Roboto" pitchFamily="34" charset="-120"/>
              </a:rPr>
              <a:t>17 normalized tables</a:t>
            </a:r>
            <a:endParaRPr lang="en-US" sz="1200" dirty="0"/>
          </a:p>
        </p:txBody>
      </p:sp>
      <p:sp>
        <p:nvSpPr>
          <p:cNvPr id="33" name="Text 31"/>
          <p:cNvSpPr/>
          <p:nvPr/>
        </p:nvSpPr>
        <p:spPr>
          <a:xfrm>
            <a:off x="8651240" y="2998470"/>
            <a:ext cx="1096539" cy="290407"/>
          </a:xfrm>
          <a:custGeom>
            <a:avLst/>
            <a:gdLst/>
            <a:ahLst/>
            <a:cxnLst/>
            <a:rect l="l" t="t" r="r" b="b"/>
            <a:pathLst>
              <a:path w="1096539" h="290407">
                <a:moveTo>
                  <a:pt x="145203" y="0"/>
                </a:moveTo>
                <a:lnTo>
                  <a:pt x="951336" y="0"/>
                </a:lnTo>
                <a:arcTo hR="145203" wR="145203" stAng="16200000" swAng="5400000"/>
                <a:lnTo>
                  <a:pt x="1096539" y="145203"/>
                </a:lnTo>
                <a:arcTo hR="145203" wR="145203" stAng="0" swAng="5400000"/>
                <a:lnTo>
                  <a:pt x="145203" y="290407"/>
                </a:lnTo>
                <a:arcTo hR="145203" wR="145203" stAng="5400000" swAng="5400000"/>
                <a:lnTo>
                  <a:pt x="0" y="145203"/>
                </a:lnTo>
                <a:arcTo hR="145203" wR="145203" stAng="10800000" swAng="5400000"/>
                <a:close/>
              </a:path>
            </a:pathLst>
          </a:custGeom>
          <a:noFill/>
          <a:ln w="6350">
            <a:solidFill>
              <a:srgbClr val="CBD5E8"/>
            </a:solidFill>
            <a:prstDash val="solid"/>
          </a:ln>
        </p:spPr>
        <p:txBody>
          <a:bodyPr wrap="none" lIns="0" tIns="0" rIns="0" bIns="0" rtlCol="0" anchor="ctr">
            <a:normAutofit/>
          </a:bodyPr>
          <a:lstStyle/>
          <a:p>
            <a:pPr algn="ctr" indent="0" marL="0">
              <a:lnSpc>
                <a:spcPts val="1680"/>
              </a:lnSpc>
              <a:buNone/>
            </a:pPr>
            <a:r>
              <a:rPr lang="en-US" sz="1200" dirty="0">
                <a:solidFill>
                  <a:srgbClr val="475569"/>
                </a:solidFill>
                <a:latin typeface="Roboto" pitchFamily="34" charset="0"/>
                <a:ea typeface="Roboto" pitchFamily="34" charset="-122"/>
                <a:cs typeface="Roboto" pitchFamily="34" charset="-120"/>
              </a:rPr>
              <a:t>FK cascades</a:t>
            </a:r>
            <a:endParaRPr lang="en-US" sz="1200" dirty="0"/>
          </a:p>
        </p:txBody>
      </p:sp>
      <p:sp>
        <p:nvSpPr>
          <p:cNvPr id="34" name="Text 32"/>
          <p:cNvSpPr/>
          <p:nvPr/>
        </p:nvSpPr>
        <p:spPr>
          <a:xfrm>
            <a:off x="9817629" y="2998470"/>
            <a:ext cx="1108393" cy="290407"/>
          </a:xfrm>
          <a:custGeom>
            <a:avLst/>
            <a:gdLst/>
            <a:ahLst/>
            <a:cxnLst/>
            <a:rect l="l" t="t" r="r" b="b"/>
            <a:pathLst>
              <a:path w="1108393" h="290407">
                <a:moveTo>
                  <a:pt x="145203" y="0"/>
                </a:moveTo>
                <a:lnTo>
                  <a:pt x="963189" y="0"/>
                </a:lnTo>
                <a:arcTo hR="145203" wR="145203" stAng="16200000" swAng="5400000"/>
                <a:lnTo>
                  <a:pt x="1108393" y="145203"/>
                </a:lnTo>
                <a:arcTo hR="145203" wR="145203" stAng="0" swAng="5400000"/>
                <a:lnTo>
                  <a:pt x="145203" y="290407"/>
                </a:lnTo>
                <a:arcTo hR="145203" wR="145203" stAng="5400000" swAng="5400000"/>
                <a:lnTo>
                  <a:pt x="0" y="145203"/>
                </a:lnTo>
                <a:arcTo hR="145203" wR="145203" stAng="10800000" swAng="5400000"/>
                <a:close/>
              </a:path>
            </a:pathLst>
          </a:custGeom>
          <a:noFill/>
          <a:ln w="6350">
            <a:solidFill>
              <a:srgbClr val="CBD5E8"/>
            </a:solidFill>
            <a:prstDash val="solid"/>
          </a:ln>
        </p:spPr>
        <p:txBody>
          <a:bodyPr wrap="none" lIns="0" tIns="0" rIns="0" bIns="0" rtlCol="0" anchor="ctr">
            <a:normAutofit/>
          </a:bodyPr>
          <a:lstStyle/>
          <a:p>
            <a:pPr algn="ctr" indent="0" marL="0">
              <a:lnSpc>
                <a:spcPts val="1680"/>
              </a:lnSpc>
              <a:buNone/>
            </a:pPr>
            <a:r>
              <a:rPr lang="en-US" sz="1200" dirty="0">
                <a:solidFill>
                  <a:srgbClr val="475569"/>
                </a:solidFill>
                <a:latin typeface="Roboto" pitchFamily="34" charset="0"/>
                <a:ea typeface="Roboto" pitchFamily="34" charset="-122"/>
                <a:cs typeface="Roboto" pitchFamily="34" charset="-120"/>
              </a:rPr>
              <a:t>Transactions</a:t>
            </a:r>
            <a:endParaRPr lang="en-US" sz="1200" dirty="0"/>
          </a:p>
        </p:txBody>
      </p:sp>
      <p:sp>
        <p:nvSpPr>
          <p:cNvPr id="35" name="Text 33"/>
          <p:cNvSpPr/>
          <p:nvPr/>
        </p:nvSpPr>
        <p:spPr>
          <a:xfrm>
            <a:off x="8651240" y="3358727"/>
            <a:ext cx="953241" cy="290407"/>
          </a:xfrm>
          <a:custGeom>
            <a:avLst/>
            <a:gdLst/>
            <a:ahLst/>
            <a:cxnLst/>
            <a:rect l="l" t="t" r="r" b="b"/>
            <a:pathLst>
              <a:path w="953241" h="290407">
                <a:moveTo>
                  <a:pt x="145203" y="0"/>
                </a:moveTo>
                <a:lnTo>
                  <a:pt x="808038" y="0"/>
                </a:lnTo>
                <a:arcTo hR="145203" wR="145203" stAng="16200000" swAng="5400000"/>
                <a:lnTo>
                  <a:pt x="953241" y="145203"/>
                </a:lnTo>
                <a:arcTo hR="145203" wR="145203" stAng="0" swAng="5400000"/>
                <a:lnTo>
                  <a:pt x="145203" y="290407"/>
                </a:lnTo>
                <a:arcTo hR="145203" wR="145203" stAng="5400000" swAng="5400000"/>
                <a:lnTo>
                  <a:pt x="0" y="145203"/>
                </a:lnTo>
                <a:arcTo hR="145203" wR="145203" stAng="10800000" swAng="5400000"/>
                <a:close/>
              </a:path>
            </a:pathLst>
          </a:custGeom>
          <a:noFill/>
          <a:ln w="6350">
            <a:solidFill>
              <a:srgbClr val="CBD5E8"/>
            </a:solidFill>
            <a:prstDash val="solid"/>
          </a:ln>
        </p:spPr>
        <p:txBody>
          <a:bodyPr wrap="none" lIns="0" tIns="0" rIns="0" bIns="0" rtlCol="0" anchor="ctr">
            <a:normAutofit/>
          </a:bodyPr>
          <a:lstStyle/>
          <a:p>
            <a:pPr algn="ctr" indent="0" marL="0">
              <a:lnSpc>
                <a:spcPts val="1680"/>
              </a:lnSpc>
              <a:buNone/>
            </a:pPr>
            <a:r>
              <a:rPr lang="en-US" sz="1200" dirty="0">
                <a:solidFill>
                  <a:srgbClr val="475569"/>
                </a:solidFill>
                <a:latin typeface="Roboto" pitchFamily="34" charset="0"/>
                <a:ea typeface="Roboto" pitchFamily="34" charset="-122"/>
                <a:cs typeface="Roboto" pitchFamily="34" charset="-120"/>
              </a:rPr>
              <a:t>Migrations</a:t>
            </a:r>
            <a:endParaRPr lang="en-US" sz="1200" dirty="0"/>
          </a:p>
        </p:txBody>
      </p:sp>
      <p:sp>
        <p:nvSpPr>
          <p:cNvPr id="36" name="Shape 34"/>
          <p:cNvSpPr/>
          <p:nvPr/>
        </p:nvSpPr>
        <p:spPr>
          <a:xfrm>
            <a:off x="612775" y="4065482"/>
            <a:ext cx="10966450" cy="1052407"/>
          </a:xfrm>
          <a:prstGeom prst="roundRect">
            <a:avLst>
              <a:gd name="adj" fmla="val 9352"/>
            </a:avLst>
          </a:prstGeom>
          <a:gradFill rotWithShape="1">
            <a:gsLst>
              <a:gs pos="0">
                <a:srgbClr val="FFFFFF"/>
              </a:gs>
              <a:gs pos="100000">
                <a:srgbClr val="F4F7FF"/>
              </a:gs>
            </a:gsLst>
            <a:lin ang="5400000" scaled="0"/>
          </a:gradFill>
          <a:ln w="6350">
            <a:solidFill>
              <a:srgbClr val="E2E8F4"/>
            </a:solidFill>
            <a:prstDash val="solid"/>
          </a:ln>
        </p:spPr>
      </p:sp>
      <p:sp>
        <p:nvSpPr>
          <p:cNvPr id="37" name="Text 35"/>
          <p:cNvSpPr/>
          <p:nvPr/>
        </p:nvSpPr>
        <p:spPr>
          <a:xfrm>
            <a:off x="816398" y="4243705"/>
            <a:ext cx="2354580" cy="482600"/>
          </a:xfrm>
          <a:prstGeom prst="rect">
            <a:avLst/>
          </a:prstGeom>
          <a:noFill/>
          <a:ln/>
        </p:spPr>
        <p:txBody>
          <a:bodyPr wrap="square" lIns="0" tIns="0" rIns="0" bIns="0" rtlCol="0" anchor="t">
            <a:normAutofit/>
          </a:bodyPr>
          <a:lstStyle/>
          <a:p>
            <a:pPr algn="l" indent="0" marL="0">
              <a:lnSpc>
                <a:spcPts val="1800"/>
              </a:lnSpc>
              <a:buNone/>
            </a:pPr>
            <a:r>
              <a:rPr lang="en-US" sz="1500" dirty="0">
                <a:solidFill>
                  <a:srgbClr val="1B2336"/>
                </a:solidFill>
                <a:latin typeface="Roboto" pitchFamily="34" charset="0"/>
                <a:ea typeface="Roboto" pitchFamily="34" charset="-122"/>
                <a:cs typeface="Roboto" pitchFamily="34" charset="-120"/>
              </a:rPr>
              <a:t>Role-Based Access Control</a:t>
            </a:r>
            <a:endParaRPr lang="en-US" sz="1500" dirty="0"/>
          </a:p>
        </p:txBody>
      </p:sp>
      <p:sp>
        <p:nvSpPr>
          <p:cNvPr id="38" name="Text 36"/>
          <p:cNvSpPr/>
          <p:nvPr/>
        </p:nvSpPr>
        <p:spPr>
          <a:xfrm>
            <a:off x="816398" y="4726305"/>
            <a:ext cx="23545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748B"/>
                </a:solidFill>
                <a:latin typeface="Roboto" pitchFamily="34" charset="0"/>
                <a:ea typeface="Roboto" pitchFamily="34" charset="-122"/>
                <a:cs typeface="Roboto" pitchFamily="34" charset="-120"/>
              </a:rPr>
              <a:t>Middleware-enforced</a:t>
            </a:r>
            <a:endParaRPr lang="en-US" sz="1200" dirty="0"/>
          </a:p>
        </p:txBody>
      </p:sp>
      <p:sp>
        <p:nvSpPr>
          <p:cNvPr id="39" name="Text 37"/>
          <p:cNvSpPr/>
          <p:nvPr/>
        </p:nvSpPr>
        <p:spPr>
          <a:xfrm>
            <a:off x="3280198" y="4412615"/>
            <a:ext cx="2336377" cy="358140"/>
          </a:xfrm>
          <a:prstGeom prst="roundRect">
            <a:avLst>
              <a:gd name="adj" fmla="val 50000"/>
            </a:avLst>
          </a:prstGeom>
          <a:solidFill>
            <a:srgbClr val="E1F3FC"/>
          </a:solidFill>
          <a:ln/>
        </p:spPr>
        <p:txBody>
          <a:bodyPr wrap="none" lIns="0" tIns="0" rIns="0" bIns="0" rtlCol="0" anchor="ctr">
            <a:normAutofit/>
          </a:bodyPr>
          <a:lstStyle/>
          <a:p>
            <a:pPr algn="ctr" indent="0" marL="0">
              <a:lnSpc>
                <a:spcPts val="1820"/>
              </a:lnSpc>
              <a:buNone/>
            </a:pPr>
            <a:r>
              <a:rPr lang="en-US" sz="1300" dirty="0">
                <a:solidFill>
                  <a:srgbClr val="0288D1"/>
                </a:solidFill>
                <a:latin typeface="Roboto" pitchFamily="34" charset="0"/>
                <a:ea typeface="Roboto" pitchFamily="34" charset="-122"/>
                <a:cs typeface="Roboto" pitchFamily="34" charset="-120"/>
              </a:rPr>
              <a:t>Admin: manage &amp; generate</a:t>
            </a:r>
            <a:endParaRPr lang="en-US" sz="1300" dirty="0"/>
          </a:p>
        </p:txBody>
      </p:sp>
      <p:sp>
        <p:nvSpPr>
          <p:cNvPr id="40" name="Text 38"/>
          <p:cNvSpPr/>
          <p:nvPr/>
        </p:nvSpPr>
        <p:spPr>
          <a:xfrm>
            <a:off x="5794375" y="4412615"/>
            <a:ext cx="2193396" cy="358140"/>
          </a:xfrm>
          <a:prstGeom prst="roundRect">
            <a:avLst>
              <a:gd name="adj" fmla="val 50000"/>
            </a:avLst>
          </a:prstGeom>
          <a:solidFill>
            <a:srgbClr val="E8ECFF"/>
          </a:solidFill>
          <a:ln/>
        </p:spPr>
        <p:txBody>
          <a:bodyPr wrap="none" lIns="0" tIns="0" rIns="0" bIns="0" rtlCol="0" anchor="ctr">
            <a:normAutofit/>
          </a:bodyPr>
          <a:lstStyle/>
          <a:p>
            <a:pPr algn="ctr" indent="0" marL="0">
              <a:lnSpc>
                <a:spcPts val="1820"/>
              </a:lnSpc>
              <a:buNone/>
            </a:pPr>
            <a:r>
              <a:rPr lang="en-US" sz="1300" dirty="0">
                <a:solidFill>
                  <a:srgbClr val="3F51B5"/>
                </a:solidFill>
                <a:latin typeface="Roboto" pitchFamily="34" charset="0"/>
                <a:ea typeface="Roboto" pitchFamily="34" charset="-122"/>
                <a:cs typeface="Roboto" pitchFamily="34" charset="-120"/>
              </a:rPr>
              <a:t>Faculty: schedule &amp; leave</a:t>
            </a:r>
            <a:endParaRPr lang="en-US" sz="1300" dirty="0"/>
          </a:p>
        </p:txBody>
      </p:sp>
      <p:sp>
        <p:nvSpPr>
          <p:cNvPr id="41" name="Text 39"/>
          <p:cNvSpPr/>
          <p:nvPr/>
        </p:nvSpPr>
        <p:spPr>
          <a:xfrm>
            <a:off x="8165571" y="4412615"/>
            <a:ext cx="1336992" cy="358140"/>
          </a:xfrm>
          <a:prstGeom prst="roundRect">
            <a:avLst>
              <a:gd name="adj" fmla="val 50000"/>
            </a:avLst>
          </a:prstGeom>
          <a:solidFill>
            <a:srgbClr val="E3F4E5"/>
          </a:solidFill>
          <a:ln/>
        </p:spPr>
        <p:txBody>
          <a:bodyPr wrap="none" lIns="0" tIns="0" rIns="0" bIns="0" rtlCol="0" anchor="ctr">
            <a:normAutofit/>
          </a:bodyPr>
          <a:lstStyle/>
          <a:p>
            <a:pPr algn="ctr" indent="0" marL="0">
              <a:lnSpc>
                <a:spcPts val="1820"/>
              </a:lnSpc>
              <a:buNone/>
            </a:pPr>
            <a:r>
              <a:rPr lang="en-US" sz="1300" dirty="0">
                <a:solidFill>
                  <a:srgbClr val="2E7D32"/>
                </a:solidFill>
                <a:latin typeface="Roboto" pitchFamily="34" charset="0"/>
                <a:ea typeface="Roboto" pitchFamily="34" charset="-122"/>
                <a:cs typeface="Roboto" pitchFamily="34" charset="-120"/>
              </a:rPr>
              <a:t>Student: view</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F8FAFF"/>
              </a:gs>
              <a:gs pos="55000">
                <a:srgbClr val="EEF2FF"/>
              </a:gs>
              <a:gs pos="100000">
                <a:srgbClr val="E6F3FB"/>
              </a:gs>
            </a:gsLst>
            <a:lin ang="2700000" scaled="0"/>
          </a:gradFill>
          <a:ln/>
        </p:spPr>
      </p:sp>
      <p:sp>
        <p:nvSpPr>
          <p:cNvPr id="3" name="Shape 1"/>
          <p:cNvSpPr/>
          <p:nvPr/>
        </p:nvSpPr>
        <p:spPr>
          <a:xfrm>
            <a:off x="0" y="0"/>
            <a:ext cx="12192000" cy="457200"/>
          </a:xfrm>
          <a:prstGeom prst="rect">
            <a:avLst/>
          </a:prstGeom>
          <a:solidFill>
            <a:srgbClr val="FFFFFF"/>
          </a:solidFill>
          <a:ln/>
        </p:spPr>
      </p:sp>
      <p:sp>
        <p:nvSpPr>
          <p:cNvPr id="4" name="Shape 2"/>
          <p:cNvSpPr/>
          <p:nvPr/>
        </p:nvSpPr>
        <p:spPr>
          <a:xfrm>
            <a:off x="0" y="454025"/>
            <a:ext cx="12192000" cy="0"/>
          </a:xfrm>
          <a:prstGeom prst="line">
            <a:avLst/>
          </a:prstGeom>
          <a:noFill/>
          <a:ln w="6350">
            <a:solidFill>
              <a:srgbClr val="E2E8F4"/>
            </a:solidFill>
            <a:prstDash val="solid"/>
          </a:ln>
        </p:spPr>
      </p:sp>
      <p:sp>
        <p:nvSpPr>
          <p:cNvPr id="5" name="Text 3"/>
          <p:cNvSpPr/>
          <p:nvPr/>
        </p:nvSpPr>
        <p:spPr>
          <a:xfrm>
            <a:off x="609600" y="112500"/>
            <a:ext cx="228600" cy="228600"/>
          </a:xfrm>
          <a:custGeom>
            <a:avLst/>
            <a:gdLst/>
            <a:ahLst/>
            <a:cxnLst/>
            <a:rect l="l" t="t" r="r" b="b"/>
            <a:pathLst>
              <a:path w="228600" h="228600">
                <a:moveTo>
                  <a:pt x="114300" y="0"/>
                </a:moveTo>
                <a:lnTo>
                  <a:pt x="114300" y="0"/>
                </a:lnTo>
                <a:arcTo hR="114300" wR="114300" stAng="16200000" swAng="5400000"/>
                <a:lnTo>
                  <a:pt x="228600" y="114300"/>
                </a:lnTo>
                <a:arcTo hR="114300" wR="114300" stAng="0" swAng="5400000"/>
                <a:lnTo>
                  <a:pt x="114300" y="228600"/>
                </a:lnTo>
                <a:arcTo hR="114300" wR="114300" stAng="5400000" swAng="5400000"/>
                <a:lnTo>
                  <a:pt x="0" y="114300"/>
                </a:lnTo>
                <a:arcTo hR="114300" wR="114300" stAng="10800000" swAng="5400000"/>
                <a:close/>
              </a:path>
            </a:pathLst>
          </a:custGeom>
          <a:solidFill>
            <a:srgbClr val="4F6BED"/>
          </a:solidFill>
          <a:ln/>
        </p:spPr>
        <p:txBody>
          <a:bodyPr wrap="square" lIns="0" tIns="0" rIns="0" bIns="0" rtlCol="0" anchor="ctr">
            <a:normAutofit/>
          </a:bodyPr>
          <a:lstStyle/>
          <a:p>
            <a:pPr algn="ctr" indent="0" marL="0">
              <a:lnSpc>
                <a:spcPts val="1680"/>
              </a:lnSpc>
              <a:buNone/>
            </a:pPr>
            <a:r>
              <a:rPr lang="en-US" sz="1200" dirty="0">
                <a:solidFill>
                  <a:srgbClr val="FFFFFF"/>
                </a:solidFill>
                <a:latin typeface="Roboto" pitchFamily="34" charset="0"/>
                <a:ea typeface="Roboto" pitchFamily="34" charset="-122"/>
                <a:cs typeface="Roboto" pitchFamily="34" charset="-120"/>
              </a:rPr>
              <a:t>S</a:t>
            </a:r>
            <a:endParaRPr lang="en-US" sz="1200" dirty="0"/>
          </a:p>
        </p:txBody>
      </p:sp>
      <p:sp>
        <p:nvSpPr>
          <p:cNvPr id="6" name="Text 4"/>
          <p:cNvSpPr/>
          <p:nvPr/>
        </p:nvSpPr>
        <p:spPr>
          <a:xfrm>
            <a:off x="939800" y="111230"/>
            <a:ext cx="86182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336"/>
                </a:solidFill>
                <a:latin typeface="Roboto" pitchFamily="34" charset="0"/>
                <a:ea typeface="Roboto" pitchFamily="34" charset="-122"/>
                <a:cs typeface="Roboto" pitchFamily="34" charset="-120"/>
              </a:rPr>
              <a:t>Schedulix</a:t>
            </a:r>
            <a:endParaRPr lang="en-US" sz="1300" dirty="0"/>
          </a:p>
        </p:txBody>
      </p:sp>
      <p:sp>
        <p:nvSpPr>
          <p:cNvPr id="7" name="Text 5"/>
          <p:cNvSpPr/>
          <p:nvPr/>
        </p:nvSpPr>
        <p:spPr>
          <a:xfrm>
            <a:off x="11014710" y="94298"/>
            <a:ext cx="564515" cy="265007"/>
          </a:xfrm>
          <a:custGeom>
            <a:avLst/>
            <a:gdLst/>
            <a:ahLst/>
            <a:cxnLst/>
            <a:rect l="l" t="t" r="r" b="b"/>
            <a:pathLst>
              <a:path w="564515" h="265007">
                <a:moveTo>
                  <a:pt x="132503" y="0"/>
                </a:moveTo>
                <a:lnTo>
                  <a:pt x="432012" y="0"/>
                </a:lnTo>
                <a:arcTo hR="132503" wR="132503" stAng="16200000" swAng="5400000"/>
                <a:lnTo>
                  <a:pt x="564515" y="132503"/>
                </a:lnTo>
                <a:arcTo hR="132503" wR="132503" stAng="0" swAng="5400000"/>
                <a:lnTo>
                  <a:pt x="132503" y="265007"/>
                </a:lnTo>
                <a:arcTo hR="132503" wR="132503" stAng="5400000" swAng="5400000"/>
                <a:lnTo>
                  <a:pt x="0" y="132503"/>
                </a:lnTo>
                <a:arcTo hR="132503" wR="132503" stAng="10800000" swAng="5400000"/>
                <a:close/>
              </a:path>
            </a:pathLst>
          </a:custGeom>
          <a:noFill/>
          <a:ln w="6350">
            <a:solidFill>
              <a:srgbClr val="CBD5E8"/>
            </a:solidFill>
            <a:prstDash val="solid"/>
          </a:ln>
        </p:spPr>
        <p:txBody>
          <a:bodyPr wrap="none" lIns="0" tIns="0" rIns="0" bIns="0" rtlCol="0" anchor="ctr">
            <a:normAutofit/>
          </a:bodyPr>
          <a:lstStyle/>
          <a:p>
            <a:pPr algn="ctr" indent="0" marL="0">
              <a:lnSpc>
                <a:spcPts val="1680"/>
              </a:lnSpc>
              <a:buNone/>
            </a:pPr>
            <a:r>
              <a:rPr lang="en-US" sz="1200" dirty="0">
                <a:solidFill>
                  <a:srgbClr val="64748B"/>
                </a:solidFill>
                <a:latin typeface="Roboto" pitchFamily="34" charset="0"/>
                <a:ea typeface="Roboto" pitchFamily="34" charset="-122"/>
                <a:cs typeface="Roboto" pitchFamily="34" charset="-120"/>
              </a:rPr>
              <a:t>3 / 4</a:t>
            </a:r>
            <a:endParaRPr lang="en-US" sz="1200" dirty="0"/>
          </a:p>
        </p:txBody>
      </p:sp>
      <p:sp>
        <p:nvSpPr>
          <p:cNvPr id="8" name="Text 6"/>
          <p:cNvSpPr/>
          <p:nvPr>
            <p:ph type="title"/>
          </p:nvPr>
        </p:nvSpPr>
        <p:spPr>
          <a:xfrm>
            <a:off x="609600" y="812800"/>
            <a:ext cx="11301984"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0F172A"/>
                </a:solidFill>
                <a:latin typeface="Roboto" pitchFamily="34" charset="0"/>
                <a:ea typeface="Roboto" pitchFamily="34" charset="-122"/>
                <a:cs typeface="Roboto" pitchFamily="34" charset="-120"/>
              </a:rPr>
              <a:t>Constraint Validation Engine &amp; Core Capabilities</a:t>
            </a:r>
            <a:endParaRPr lang="en-US" sz="2800" dirty="0"/>
          </a:p>
        </p:txBody>
      </p:sp>
      <p:sp>
        <p:nvSpPr>
          <p:cNvPr id="9" name="Shape 7"/>
          <p:cNvSpPr/>
          <p:nvPr/>
        </p:nvSpPr>
        <p:spPr>
          <a:xfrm>
            <a:off x="612775" y="1428114"/>
            <a:ext cx="5881793" cy="4174279"/>
          </a:xfrm>
          <a:prstGeom prst="roundRect">
            <a:avLst>
              <a:gd name="adj" fmla="val 2358"/>
            </a:avLst>
          </a:prstGeom>
          <a:gradFill rotWithShape="1">
            <a:gsLst>
              <a:gs pos="0">
                <a:srgbClr val="FFFFFF"/>
              </a:gs>
              <a:gs pos="100000">
                <a:srgbClr val="F4F7FF"/>
              </a:gs>
            </a:gsLst>
            <a:lin ang="5400000" scaled="0"/>
          </a:gradFill>
          <a:ln w="6350">
            <a:solidFill>
              <a:srgbClr val="E2E8F4"/>
            </a:solidFill>
            <a:prstDash val="solid"/>
          </a:ln>
        </p:spPr>
      </p:sp>
      <p:sp>
        <p:nvSpPr>
          <p:cNvPr id="10" name="Text 8"/>
          <p:cNvSpPr/>
          <p:nvPr/>
        </p:nvSpPr>
        <p:spPr>
          <a:xfrm>
            <a:off x="816398" y="1631738"/>
            <a:ext cx="5638783"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3F51B5"/>
                </a:solidFill>
                <a:latin typeface="Roboto" pitchFamily="34" charset="0"/>
                <a:ea typeface="Roboto" pitchFamily="34" charset="-122"/>
                <a:cs typeface="Roboto" pitchFamily="34" charset="-120"/>
              </a:rPr>
              <a:t>5 hard constraints, zero tolerance</a:t>
            </a:r>
            <a:endParaRPr lang="en-US" sz="1600" dirty="0"/>
          </a:p>
        </p:txBody>
      </p:sp>
      <p:sp>
        <p:nvSpPr>
          <p:cNvPr id="11" name="Shape 9"/>
          <p:cNvSpPr/>
          <p:nvPr/>
        </p:nvSpPr>
        <p:spPr>
          <a:xfrm>
            <a:off x="816398" y="1980354"/>
            <a:ext cx="5474546" cy="0"/>
          </a:xfrm>
          <a:prstGeom prst="line">
            <a:avLst/>
          </a:prstGeom>
          <a:noFill/>
          <a:ln w="6350">
            <a:solidFill>
              <a:srgbClr val="E2E8F4"/>
            </a:solidFill>
            <a:prstDash val="solid"/>
          </a:ln>
        </p:spPr>
      </p:sp>
      <p:sp>
        <p:nvSpPr>
          <p:cNvPr id="12" name="Text 10"/>
          <p:cNvSpPr/>
          <p:nvPr/>
        </p:nvSpPr>
        <p:spPr>
          <a:xfrm>
            <a:off x="816398" y="2180166"/>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E8ECFF"/>
          </a:solidFill>
          <a:ln/>
        </p:spPr>
        <p:txBody>
          <a:bodyPr wrap="square" lIns="0" tIns="0" rIns="0" bIns="0" rtlCol="0" anchor="ctr">
            <a:normAutofit/>
          </a:bodyPr>
          <a:lstStyle/>
          <a:p>
            <a:pPr algn="ctr" indent="0" marL="0">
              <a:lnSpc>
                <a:spcPts val="1820"/>
              </a:lnSpc>
              <a:buNone/>
            </a:pPr>
            <a:r>
              <a:rPr lang="en-US" sz="1300" dirty="0">
                <a:solidFill>
                  <a:srgbClr val="3F51B5"/>
                </a:solidFill>
                <a:latin typeface="Roboto" pitchFamily="34" charset="0"/>
                <a:ea typeface="Roboto" pitchFamily="34" charset="-122"/>
                <a:cs typeface="Roboto" pitchFamily="34" charset="-120"/>
              </a:rPr>
              <a:t>1</a:t>
            </a:r>
            <a:endParaRPr lang="en-US" sz="1300" dirty="0"/>
          </a:p>
        </p:txBody>
      </p:sp>
      <p:sp>
        <p:nvSpPr>
          <p:cNvPr id="13" name="Text 11"/>
          <p:cNvSpPr/>
          <p:nvPr/>
        </p:nvSpPr>
        <p:spPr>
          <a:xfrm>
            <a:off x="1273598" y="2095077"/>
            <a:ext cx="236417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336"/>
                </a:solidFill>
                <a:latin typeface="Roboto" pitchFamily="34" charset="0"/>
                <a:ea typeface="Roboto" pitchFamily="34" charset="-122"/>
                <a:cs typeface="Roboto" pitchFamily="34" charset="-120"/>
              </a:rPr>
              <a:t>No Faculty Clash</a:t>
            </a:r>
            <a:endParaRPr lang="en-US" sz="1400" dirty="0"/>
          </a:p>
        </p:txBody>
      </p:sp>
      <p:sp>
        <p:nvSpPr>
          <p:cNvPr id="14" name="Text 12"/>
          <p:cNvSpPr/>
          <p:nvPr/>
        </p:nvSpPr>
        <p:spPr>
          <a:xfrm>
            <a:off x="1273598" y="2356696"/>
            <a:ext cx="275437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748B"/>
                </a:solidFill>
                <a:latin typeface="Roboto" pitchFamily="34" charset="0"/>
                <a:ea typeface="Roboto" pitchFamily="34" charset="-122"/>
                <a:cs typeface="Roboto" pitchFamily="34" charset="-120"/>
              </a:rPr>
              <a:t>One instructor, one class at a time</a:t>
            </a:r>
            <a:endParaRPr lang="en-US" sz="1200" dirty="0"/>
          </a:p>
        </p:txBody>
      </p:sp>
      <p:sp>
        <p:nvSpPr>
          <p:cNvPr id="15" name="Shape 13"/>
          <p:cNvSpPr/>
          <p:nvPr/>
        </p:nvSpPr>
        <p:spPr>
          <a:xfrm>
            <a:off x="816398" y="2687532"/>
            <a:ext cx="5474546" cy="0"/>
          </a:xfrm>
          <a:prstGeom prst="line">
            <a:avLst/>
          </a:prstGeom>
          <a:noFill/>
          <a:ln w="6350">
            <a:solidFill>
              <a:srgbClr val="E2E8F4"/>
            </a:solidFill>
            <a:prstDash val="solid"/>
          </a:ln>
        </p:spPr>
      </p:sp>
      <p:sp>
        <p:nvSpPr>
          <p:cNvPr id="16" name="Text 14"/>
          <p:cNvSpPr/>
          <p:nvPr/>
        </p:nvSpPr>
        <p:spPr>
          <a:xfrm>
            <a:off x="816398" y="2887345"/>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E8ECFF"/>
          </a:solidFill>
          <a:ln/>
        </p:spPr>
        <p:txBody>
          <a:bodyPr wrap="square" lIns="0" tIns="0" rIns="0" bIns="0" rtlCol="0" anchor="ctr">
            <a:normAutofit/>
          </a:bodyPr>
          <a:lstStyle/>
          <a:p>
            <a:pPr algn="ctr" indent="0" marL="0">
              <a:lnSpc>
                <a:spcPts val="1820"/>
              </a:lnSpc>
              <a:buNone/>
            </a:pPr>
            <a:r>
              <a:rPr lang="en-US" sz="1300" dirty="0">
                <a:solidFill>
                  <a:srgbClr val="3F51B5"/>
                </a:solidFill>
                <a:latin typeface="Roboto" pitchFamily="34" charset="0"/>
                <a:ea typeface="Roboto" pitchFamily="34" charset="-122"/>
                <a:cs typeface="Roboto" pitchFamily="34" charset="-120"/>
              </a:rPr>
              <a:t>2</a:t>
            </a:r>
            <a:endParaRPr lang="en-US" sz="1300" dirty="0"/>
          </a:p>
        </p:txBody>
      </p:sp>
      <p:sp>
        <p:nvSpPr>
          <p:cNvPr id="17" name="Text 15"/>
          <p:cNvSpPr/>
          <p:nvPr/>
        </p:nvSpPr>
        <p:spPr>
          <a:xfrm>
            <a:off x="1273598" y="2802255"/>
            <a:ext cx="217918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336"/>
                </a:solidFill>
                <a:latin typeface="Roboto" pitchFamily="34" charset="0"/>
                <a:ea typeface="Roboto" pitchFamily="34" charset="-122"/>
                <a:cs typeface="Roboto" pitchFamily="34" charset="-120"/>
              </a:rPr>
              <a:t>No Classroom Clash</a:t>
            </a:r>
            <a:endParaRPr lang="en-US" sz="1400" dirty="0"/>
          </a:p>
        </p:txBody>
      </p:sp>
      <p:sp>
        <p:nvSpPr>
          <p:cNvPr id="18" name="Text 16"/>
          <p:cNvSpPr/>
          <p:nvPr/>
        </p:nvSpPr>
        <p:spPr>
          <a:xfrm>
            <a:off x="1273598" y="3063875"/>
            <a:ext cx="253885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748B"/>
                </a:solidFill>
                <a:latin typeface="Roboto" pitchFamily="34" charset="0"/>
                <a:ea typeface="Roboto" pitchFamily="34" charset="-122"/>
                <a:cs typeface="Roboto" pitchFamily="34" charset="-120"/>
              </a:rPr>
              <a:t>One room, one lecture at a time</a:t>
            </a:r>
            <a:endParaRPr lang="en-US" sz="1200" dirty="0"/>
          </a:p>
        </p:txBody>
      </p:sp>
      <p:sp>
        <p:nvSpPr>
          <p:cNvPr id="19" name="Shape 17"/>
          <p:cNvSpPr/>
          <p:nvPr/>
        </p:nvSpPr>
        <p:spPr>
          <a:xfrm>
            <a:off x="816398" y="3394711"/>
            <a:ext cx="5474546" cy="0"/>
          </a:xfrm>
          <a:prstGeom prst="line">
            <a:avLst/>
          </a:prstGeom>
          <a:noFill/>
          <a:ln w="6350">
            <a:solidFill>
              <a:srgbClr val="E2E8F4"/>
            </a:solidFill>
            <a:prstDash val="solid"/>
          </a:ln>
        </p:spPr>
      </p:sp>
      <p:sp>
        <p:nvSpPr>
          <p:cNvPr id="20" name="Text 18"/>
          <p:cNvSpPr/>
          <p:nvPr/>
        </p:nvSpPr>
        <p:spPr>
          <a:xfrm>
            <a:off x="816398" y="3594523"/>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E8ECFF"/>
          </a:solidFill>
          <a:ln/>
        </p:spPr>
        <p:txBody>
          <a:bodyPr wrap="square" lIns="0" tIns="0" rIns="0" bIns="0" rtlCol="0" anchor="ctr">
            <a:normAutofit/>
          </a:bodyPr>
          <a:lstStyle/>
          <a:p>
            <a:pPr algn="ctr" indent="0" marL="0">
              <a:lnSpc>
                <a:spcPts val="1820"/>
              </a:lnSpc>
              <a:buNone/>
            </a:pPr>
            <a:r>
              <a:rPr lang="en-US" sz="1300" dirty="0">
                <a:solidFill>
                  <a:srgbClr val="3F51B5"/>
                </a:solidFill>
                <a:latin typeface="Roboto" pitchFamily="34" charset="0"/>
                <a:ea typeface="Roboto" pitchFamily="34" charset="-122"/>
                <a:cs typeface="Roboto" pitchFamily="34" charset="-120"/>
              </a:rPr>
              <a:t>3</a:t>
            </a:r>
            <a:endParaRPr lang="en-US" sz="1300" dirty="0"/>
          </a:p>
        </p:txBody>
      </p:sp>
      <p:sp>
        <p:nvSpPr>
          <p:cNvPr id="21" name="Text 19"/>
          <p:cNvSpPr/>
          <p:nvPr/>
        </p:nvSpPr>
        <p:spPr>
          <a:xfrm>
            <a:off x="1273598" y="3509434"/>
            <a:ext cx="274853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336"/>
                </a:solidFill>
                <a:latin typeface="Roboto" pitchFamily="34" charset="0"/>
                <a:ea typeface="Roboto" pitchFamily="34" charset="-122"/>
                <a:cs typeface="Roboto" pitchFamily="34" charset="-120"/>
              </a:rPr>
              <a:t>Room-Type Compatibility</a:t>
            </a:r>
            <a:endParaRPr lang="en-US" sz="1400" dirty="0"/>
          </a:p>
        </p:txBody>
      </p:sp>
      <p:sp>
        <p:nvSpPr>
          <p:cNvPr id="22" name="Text 20"/>
          <p:cNvSpPr/>
          <p:nvPr/>
        </p:nvSpPr>
        <p:spPr>
          <a:xfrm>
            <a:off x="1273598" y="3771054"/>
            <a:ext cx="320217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748B"/>
                </a:solidFill>
                <a:latin typeface="Roboto" pitchFamily="34" charset="0"/>
                <a:ea typeface="Roboto" pitchFamily="34" charset="-122"/>
                <a:cs typeface="Roboto" pitchFamily="34" charset="-120"/>
              </a:rPr>
              <a:t>Theory in classrooms, practicals in labs</a:t>
            </a:r>
            <a:endParaRPr lang="en-US" sz="1200" dirty="0"/>
          </a:p>
        </p:txBody>
      </p:sp>
      <p:sp>
        <p:nvSpPr>
          <p:cNvPr id="23" name="Shape 21"/>
          <p:cNvSpPr/>
          <p:nvPr/>
        </p:nvSpPr>
        <p:spPr>
          <a:xfrm>
            <a:off x="816398" y="4101888"/>
            <a:ext cx="5474546" cy="0"/>
          </a:xfrm>
          <a:prstGeom prst="line">
            <a:avLst/>
          </a:prstGeom>
          <a:noFill/>
          <a:ln w="6350">
            <a:solidFill>
              <a:srgbClr val="E2E8F4"/>
            </a:solidFill>
            <a:prstDash val="solid"/>
          </a:ln>
        </p:spPr>
      </p:sp>
      <p:sp>
        <p:nvSpPr>
          <p:cNvPr id="24" name="Text 22"/>
          <p:cNvSpPr/>
          <p:nvPr/>
        </p:nvSpPr>
        <p:spPr>
          <a:xfrm>
            <a:off x="816398" y="4301702"/>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E8ECFF"/>
          </a:solidFill>
          <a:ln/>
        </p:spPr>
        <p:txBody>
          <a:bodyPr wrap="square" lIns="0" tIns="0" rIns="0" bIns="0" rtlCol="0" anchor="ctr">
            <a:normAutofit/>
          </a:bodyPr>
          <a:lstStyle/>
          <a:p>
            <a:pPr algn="ctr" indent="0" marL="0">
              <a:lnSpc>
                <a:spcPts val="1820"/>
              </a:lnSpc>
              <a:buNone/>
            </a:pPr>
            <a:r>
              <a:rPr lang="en-US" sz="1300" dirty="0">
                <a:solidFill>
                  <a:srgbClr val="3F51B5"/>
                </a:solidFill>
                <a:latin typeface="Roboto" pitchFamily="34" charset="0"/>
                <a:ea typeface="Roboto" pitchFamily="34" charset="-122"/>
                <a:cs typeface="Roboto" pitchFamily="34" charset="-120"/>
              </a:rPr>
              <a:t>4</a:t>
            </a:r>
            <a:endParaRPr lang="en-US" sz="1300" dirty="0"/>
          </a:p>
        </p:txBody>
      </p:sp>
      <p:sp>
        <p:nvSpPr>
          <p:cNvPr id="25" name="Text 23"/>
          <p:cNvSpPr/>
          <p:nvPr/>
        </p:nvSpPr>
        <p:spPr>
          <a:xfrm>
            <a:off x="1273598" y="4216612"/>
            <a:ext cx="249661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336"/>
                </a:solidFill>
                <a:latin typeface="Roboto" pitchFamily="34" charset="0"/>
                <a:ea typeface="Roboto" pitchFamily="34" charset="-122"/>
                <a:cs typeface="Roboto" pitchFamily="34" charset="-120"/>
              </a:rPr>
              <a:t>Capacity Enforcement</a:t>
            </a:r>
            <a:endParaRPr lang="en-US" sz="1400" dirty="0"/>
          </a:p>
        </p:txBody>
      </p:sp>
      <p:sp>
        <p:nvSpPr>
          <p:cNvPr id="26" name="Text 24"/>
          <p:cNvSpPr/>
          <p:nvPr/>
        </p:nvSpPr>
        <p:spPr>
          <a:xfrm>
            <a:off x="1273598" y="4478232"/>
            <a:ext cx="290868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748B"/>
                </a:solidFill>
                <a:latin typeface="Roboto" pitchFamily="34" charset="0"/>
                <a:ea typeface="Roboto" pitchFamily="34" charset="-122"/>
                <a:cs typeface="Roboto" pitchFamily="34" charset="-120"/>
              </a:rPr>
              <a:t>Room capacity ≥ section enrollment</a:t>
            </a:r>
            <a:endParaRPr lang="en-US" sz="1200" dirty="0"/>
          </a:p>
        </p:txBody>
      </p:sp>
      <p:sp>
        <p:nvSpPr>
          <p:cNvPr id="27" name="Shape 25"/>
          <p:cNvSpPr/>
          <p:nvPr/>
        </p:nvSpPr>
        <p:spPr>
          <a:xfrm>
            <a:off x="816398" y="4809066"/>
            <a:ext cx="5474546" cy="0"/>
          </a:xfrm>
          <a:prstGeom prst="line">
            <a:avLst/>
          </a:prstGeom>
          <a:noFill/>
          <a:ln w="6350">
            <a:solidFill>
              <a:srgbClr val="E2E8F4"/>
            </a:solidFill>
            <a:prstDash val="solid"/>
          </a:ln>
        </p:spPr>
      </p:sp>
      <p:sp>
        <p:nvSpPr>
          <p:cNvPr id="28" name="Text 26"/>
          <p:cNvSpPr/>
          <p:nvPr/>
        </p:nvSpPr>
        <p:spPr>
          <a:xfrm>
            <a:off x="816398" y="5008880"/>
            <a:ext cx="304800" cy="304800"/>
          </a:xfrm>
          <a:custGeom>
            <a:avLst/>
            <a:gdLst/>
            <a:ahLst/>
            <a:cxnLst/>
            <a:rect l="l" t="t" r="r" b="b"/>
            <a:pathLst>
              <a:path w="304800" h="304800">
                <a:moveTo>
                  <a:pt x="152400" y="0"/>
                </a:moveTo>
                <a:lnTo>
                  <a:pt x="152400" y="0"/>
                </a:lnTo>
                <a:arcTo hR="152400" wR="152400" stAng="16200000" swAng="5400000"/>
                <a:lnTo>
                  <a:pt x="304800" y="152400"/>
                </a:lnTo>
                <a:arcTo hR="152400" wR="152400" stAng="0" swAng="5400000"/>
                <a:lnTo>
                  <a:pt x="152400" y="304800"/>
                </a:lnTo>
                <a:arcTo hR="152400" wR="152400" stAng="5400000" swAng="5400000"/>
                <a:lnTo>
                  <a:pt x="0" y="152400"/>
                </a:lnTo>
                <a:arcTo hR="152400" wR="152400" stAng="10800000" swAng="5400000"/>
                <a:close/>
              </a:path>
            </a:pathLst>
          </a:custGeom>
          <a:solidFill>
            <a:srgbClr val="E8ECFF"/>
          </a:solidFill>
          <a:ln/>
        </p:spPr>
        <p:txBody>
          <a:bodyPr wrap="square" lIns="0" tIns="0" rIns="0" bIns="0" rtlCol="0" anchor="ctr">
            <a:normAutofit/>
          </a:bodyPr>
          <a:lstStyle/>
          <a:p>
            <a:pPr algn="ctr" indent="0" marL="0">
              <a:lnSpc>
                <a:spcPts val="1820"/>
              </a:lnSpc>
              <a:buNone/>
            </a:pPr>
            <a:r>
              <a:rPr lang="en-US" sz="1300" dirty="0">
                <a:solidFill>
                  <a:srgbClr val="3F51B5"/>
                </a:solidFill>
                <a:latin typeface="Roboto" pitchFamily="34" charset="0"/>
                <a:ea typeface="Roboto" pitchFamily="34" charset="-122"/>
                <a:cs typeface="Roboto" pitchFamily="34" charset="-120"/>
              </a:rPr>
              <a:t>5</a:t>
            </a:r>
            <a:endParaRPr lang="en-US" sz="1300" dirty="0"/>
          </a:p>
        </p:txBody>
      </p:sp>
      <p:sp>
        <p:nvSpPr>
          <p:cNvPr id="29" name="Text 27"/>
          <p:cNvSpPr/>
          <p:nvPr/>
        </p:nvSpPr>
        <p:spPr>
          <a:xfrm>
            <a:off x="1273598" y="4923789"/>
            <a:ext cx="251482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336"/>
                </a:solidFill>
                <a:latin typeface="Roboto" pitchFamily="34" charset="0"/>
                <a:ea typeface="Roboto" pitchFamily="34" charset="-122"/>
                <a:cs typeface="Roboto" pitchFamily="34" charset="-120"/>
              </a:rPr>
              <a:t>Availability &amp; Absence</a:t>
            </a:r>
            <a:endParaRPr lang="en-US" sz="1400" dirty="0"/>
          </a:p>
        </p:txBody>
      </p:sp>
      <p:sp>
        <p:nvSpPr>
          <p:cNvPr id="30" name="Text 28"/>
          <p:cNvSpPr/>
          <p:nvPr/>
        </p:nvSpPr>
        <p:spPr>
          <a:xfrm>
            <a:off x="1273598" y="5185411"/>
            <a:ext cx="29298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748B"/>
                </a:solidFill>
                <a:latin typeface="Roboto" pitchFamily="34" charset="0"/>
                <a:ea typeface="Roboto" pitchFamily="34" charset="-122"/>
                <a:cs typeface="Roboto" pitchFamily="34" charset="-120"/>
              </a:rPr>
              <a:t>Honors time-slots and leave records</a:t>
            </a:r>
            <a:endParaRPr lang="en-US" sz="1200" dirty="0"/>
          </a:p>
        </p:txBody>
      </p:sp>
      <p:sp>
        <p:nvSpPr>
          <p:cNvPr id="31" name="Shape 29"/>
          <p:cNvSpPr/>
          <p:nvPr/>
        </p:nvSpPr>
        <p:spPr>
          <a:xfrm>
            <a:off x="6678718" y="1428114"/>
            <a:ext cx="4900507" cy="1638723"/>
          </a:xfrm>
          <a:prstGeom prst="roundRect">
            <a:avLst>
              <a:gd name="adj" fmla="val 6006"/>
            </a:avLst>
          </a:prstGeom>
          <a:gradFill rotWithShape="1">
            <a:gsLst>
              <a:gs pos="0">
                <a:srgbClr val="FFFFFF"/>
              </a:gs>
              <a:gs pos="100000">
                <a:srgbClr val="F4F7FF"/>
              </a:gs>
            </a:gsLst>
            <a:lin ang="5400000" scaled="0"/>
          </a:gradFill>
          <a:ln w="6350">
            <a:solidFill>
              <a:srgbClr val="E2E8F4"/>
            </a:solidFill>
            <a:prstDash val="solid"/>
          </a:ln>
        </p:spPr>
      </p:sp>
      <p:sp>
        <p:nvSpPr>
          <p:cNvPr id="32" name="Text 30"/>
          <p:cNvSpPr/>
          <p:nvPr/>
        </p:nvSpPr>
        <p:spPr>
          <a:xfrm>
            <a:off x="6882342" y="1631738"/>
            <a:ext cx="4628058"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0288D1"/>
                </a:solidFill>
                <a:latin typeface="Roboto" pitchFamily="34" charset="0"/>
                <a:ea typeface="Roboto" pitchFamily="34" charset="-122"/>
                <a:cs typeface="Roboto" pitchFamily="34" charset="-120"/>
              </a:rPr>
              <a:t>Scheduling algorithm</a:t>
            </a:r>
            <a:endParaRPr lang="en-US" sz="1600" dirty="0"/>
          </a:p>
        </p:txBody>
      </p:sp>
      <p:sp>
        <p:nvSpPr>
          <p:cNvPr id="33" name="Text 31"/>
          <p:cNvSpPr/>
          <p:nvPr/>
        </p:nvSpPr>
        <p:spPr>
          <a:xfrm>
            <a:off x="6882342" y="1989879"/>
            <a:ext cx="4628058"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Roboto" pitchFamily="34" charset="0"/>
                <a:ea typeface="Roboto" pitchFamily="34" charset="-122"/>
                <a:cs typeface="Roboto" pitchFamily="34" charset="-120"/>
              </a:rPr>
              <a:t>Greedy heuristic with in-memory occupancy index. Balances weekday load with no database lock contention.</a:t>
            </a:r>
            <a:endParaRPr lang="en-US" sz="1300" dirty="0"/>
          </a:p>
        </p:txBody>
      </p:sp>
      <p:sp>
        <p:nvSpPr>
          <p:cNvPr id="34" name="Text 32"/>
          <p:cNvSpPr/>
          <p:nvPr/>
        </p:nvSpPr>
        <p:spPr>
          <a:xfrm>
            <a:off x="6885517" y="2569634"/>
            <a:ext cx="1129877" cy="290407"/>
          </a:xfrm>
          <a:custGeom>
            <a:avLst/>
            <a:gdLst/>
            <a:ahLst/>
            <a:cxnLst/>
            <a:rect l="l" t="t" r="r" b="b"/>
            <a:pathLst>
              <a:path w="1129877" h="290407">
                <a:moveTo>
                  <a:pt x="145203" y="0"/>
                </a:moveTo>
                <a:lnTo>
                  <a:pt x="984673" y="0"/>
                </a:lnTo>
                <a:arcTo hR="145203" wR="145203" stAng="16200000" swAng="5400000"/>
                <a:lnTo>
                  <a:pt x="1129877" y="145203"/>
                </a:lnTo>
                <a:arcTo hR="145203" wR="145203" stAng="0" swAng="5400000"/>
                <a:lnTo>
                  <a:pt x="145203" y="290407"/>
                </a:lnTo>
                <a:arcTo hR="145203" wR="145203" stAng="5400000" swAng="5400000"/>
                <a:lnTo>
                  <a:pt x="0" y="145203"/>
                </a:lnTo>
                <a:arcTo hR="145203" wR="145203" stAng="10800000" swAng="5400000"/>
                <a:close/>
              </a:path>
            </a:pathLst>
          </a:custGeom>
          <a:noFill/>
          <a:ln w="6350">
            <a:solidFill>
              <a:srgbClr val="CBD5E8"/>
            </a:solidFill>
            <a:prstDash val="solid"/>
          </a:ln>
        </p:spPr>
        <p:txBody>
          <a:bodyPr wrap="none" lIns="0" tIns="0" rIns="0" bIns="0" rtlCol="0" anchor="ctr">
            <a:normAutofit/>
          </a:bodyPr>
          <a:lstStyle/>
          <a:p>
            <a:pPr algn="ctr" indent="0" marL="0">
              <a:lnSpc>
                <a:spcPts val="1680"/>
              </a:lnSpc>
              <a:buNone/>
            </a:pPr>
            <a:r>
              <a:rPr lang="en-US" sz="1200" dirty="0">
                <a:solidFill>
                  <a:srgbClr val="475569"/>
                </a:solidFill>
                <a:latin typeface="Roboto" pitchFamily="34" charset="0"/>
                <a:ea typeface="Roboto" pitchFamily="34" charset="-122"/>
                <a:cs typeface="Roboto" pitchFamily="34" charset="-120"/>
              </a:rPr>
              <a:t>Deterministic</a:t>
            </a:r>
            <a:endParaRPr lang="en-US" sz="1200" dirty="0"/>
          </a:p>
        </p:txBody>
      </p:sp>
      <p:sp>
        <p:nvSpPr>
          <p:cNvPr id="35" name="Text 33"/>
          <p:cNvSpPr/>
          <p:nvPr/>
        </p:nvSpPr>
        <p:spPr>
          <a:xfrm>
            <a:off x="8085243" y="2569634"/>
            <a:ext cx="1075055" cy="290407"/>
          </a:xfrm>
          <a:custGeom>
            <a:avLst/>
            <a:gdLst/>
            <a:ahLst/>
            <a:cxnLst/>
            <a:rect l="l" t="t" r="r" b="b"/>
            <a:pathLst>
              <a:path w="1075055" h="290407">
                <a:moveTo>
                  <a:pt x="145203" y="0"/>
                </a:moveTo>
                <a:lnTo>
                  <a:pt x="929852" y="0"/>
                </a:lnTo>
                <a:arcTo hR="145203" wR="145203" stAng="16200000" swAng="5400000"/>
                <a:lnTo>
                  <a:pt x="1075055" y="145203"/>
                </a:lnTo>
                <a:arcTo hR="145203" wR="145203" stAng="0" swAng="5400000"/>
                <a:lnTo>
                  <a:pt x="145203" y="290407"/>
                </a:lnTo>
                <a:arcTo hR="145203" wR="145203" stAng="5400000" swAng="5400000"/>
                <a:lnTo>
                  <a:pt x="0" y="145203"/>
                </a:lnTo>
                <a:arcTo hR="145203" wR="145203" stAng="10800000" swAng="5400000"/>
                <a:close/>
              </a:path>
            </a:pathLst>
          </a:custGeom>
          <a:noFill/>
          <a:ln w="6350">
            <a:solidFill>
              <a:srgbClr val="CBD5E8"/>
            </a:solidFill>
            <a:prstDash val="solid"/>
          </a:ln>
        </p:spPr>
        <p:txBody>
          <a:bodyPr wrap="none" lIns="0" tIns="0" rIns="0" bIns="0" rtlCol="0" anchor="ctr">
            <a:normAutofit/>
          </a:bodyPr>
          <a:lstStyle/>
          <a:p>
            <a:pPr algn="ctr" indent="0" marL="0">
              <a:lnSpc>
                <a:spcPts val="1680"/>
              </a:lnSpc>
              <a:buNone/>
            </a:pPr>
            <a:r>
              <a:rPr lang="en-US" sz="1200" dirty="0">
                <a:solidFill>
                  <a:srgbClr val="475569"/>
                </a:solidFill>
                <a:latin typeface="Roboto" pitchFamily="34" charset="0"/>
                <a:ea typeface="Roboto" pitchFamily="34" charset="-122"/>
                <a:cs typeface="Roboto" pitchFamily="34" charset="-120"/>
              </a:rPr>
              <a:t>Randomized</a:t>
            </a:r>
            <a:endParaRPr lang="en-US" sz="1200" dirty="0"/>
          </a:p>
        </p:txBody>
      </p:sp>
      <p:sp>
        <p:nvSpPr>
          <p:cNvPr id="36" name="Shape 34"/>
          <p:cNvSpPr/>
          <p:nvPr/>
        </p:nvSpPr>
        <p:spPr>
          <a:xfrm>
            <a:off x="6678718" y="3250988"/>
            <a:ext cx="4900507" cy="1638723"/>
          </a:xfrm>
          <a:prstGeom prst="roundRect">
            <a:avLst>
              <a:gd name="adj" fmla="val 6006"/>
            </a:avLst>
          </a:prstGeom>
          <a:gradFill rotWithShape="1">
            <a:gsLst>
              <a:gs pos="0">
                <a:srgbClr val="FFFFFF"/>
              </a:gs>
              <a:gs pos="100000">
                <a:srgbClr val="F4F7FF"/>
              </a:gs>
            </a:gsLst>
            <a:lin ang="5400000" scaled="0"/>
          </a:gradFill>
          <a:ln w="6350">
            <a:solidFill>
              <a:srgbClr val="E2E8F4"/>
            </a:solidFill>
            <a:prstDash val="solid"/>
          </a:ln>
        </p:spPr>
      </p:sp>
      <p:sp>
        <p:nvSpPr>
          <p:cNvPr id="37" name="Text 35"/>
          <p:cNvSpPr/>
          <p:nvPr/>
        </p:nvSpPr>
        <p:spPr>
          <a:xfrm>
            <a:off x="6882342" y="3454612"/>
            <a:ext cx="4628058"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2E7D32"/>
                </a:solidFill>
                <a:latin typeface="Roboto" pitchFamily="34" charset="0"/>
                <a:ea typeface="Roboto" pitchFamily="34" charset="-122"/>
                <a:cs typeface="Roboto" pitchFamily="34" charset="-120"/>
              </a:rPr>
              <a:t>Interactive features</a:t>
            </a:r>
            <a:endParaRPr lang="en-US" sz="1600" dirty="0"/>
          </a:p>
        </p:txBody>
      </p:sp>
      <p:sp>
        <p:nvSpPr>
          <p:cNvPr id="38" name="Text 36"/>
          <p:cNvSpPr/>
          <p:nvPr/>
        </p:nvSpPr>
        <p:spPr>
          <a:xfrm>
            <a:off x="6882342" y="3812752"/>
            <a:ext cx="4628058"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75569"/>
                </a:solidFill>
                <a:latin typeface="Roboto" pitchFamily="34" charset="0"/>
                <a:ea typeface="Roboto" pitchFamily="34" charset="-122"/>
                <a:cs typeface="Roboto" pitchFamily="34" charset="-120"/>
              </a:rPr>
              <a:t>Visual timetable grid, drag/drop edit modal and change audit logging.</a:t>
            </a:r>
            <a:endParaRPr lang="en-US" sz="1300" dirty="0"/>
          </a:p>
        </p:txBody>
      </p:sp>
      <p:sp>
        <p:nvSpPr>
          <p:cNvPr id="39" name="Text 37"/>
          <p:cNvSpPr/>
          <p:nvPr/>
        </p:nvSpPr>
        <p:spPr>
          <a:xfrm>
            <a:off x="6885517" y="4392507"/>
            <a:ext cx="1375622" cy="290407"/>
          </a:xfrm>
          <a:custGeom>
            <a:avLst/>
            <a:gdLst/>
            <a:ahLst/>
            <a:cxnLst/>
            <a:rect l="l" t="t" r="r" b="b"/>
            <a:pathLst>
              <a:path w="1375622" h="290407">
                <a:moveTo>
                  <a:pt x="145203" y="0"/>
                </a:moveTo>
                <a:lnTo>
                  <a:pt x="1230418" y="0"/>
                </a:lnTo>
                <a:arcTo hR="145203" wR="145203" stAng="16200000" swAng="5400000"/>
                <a:lnTo>
                  <a:pt x="1375622" y="145203"/>
                </a:lnTo>
                <a:arcTo hR="145203" wR="145203" stAng="0" swAng="5400000"/>
                <a:lnTo>
                  <a:pt x="145203" y="290407"/>
                </a:lnTo>
                <a:arcTo hR="145203" wR="145203" stAng="5400000" swAng="5400000"/>
                <a:lnTo>
                  <a:pt x="0" y="145203"/>
                </a:lnTo>
                <a:arcTo hR="145203" wR="145203" stAng="10800000" swAng="5400000"/>
                <a:close/>
              </a:path>
            </a:pathLst>
          </a:custGeom>
          <a:noFill/>
          <a:ln w="6350">
            <a:solidFill>
              <a:srgbClr val="CBD5E8"/>
            </a:solidFill>
            <a:prstDash val="solid"/>
          </a:ln>
        </p:spPr>
        <p:txBody>
          <a:bodyPr wrap="none" lIns="0" tIns="0" rIns="0" bIns="0" rtlCol="0" anchor="ctr">
            <a:normAutofit/>
          </a:bodyPr>
          <a:lstStyle/>
          <a:p>
            <a:pPr algn="ctr" indent="0" marL="0">
              <a:lnSpc>
                <a:spcPts val="1680"/>
              </a:lnSpc>
              <a:buNone/>
            </a:pPr>
            <a:r>
              <a:rPr lang="en-US" sz="1200" dirty="0">
                <a:solidFill>
                  <a:srgbClr val="475569"/>
                </a:solidFill>
                <a:latin typeface="Roboto" pitchFamily="34" charset="0"/>
                <a:ea typeface="Roboto" pitchFamily="34" charset="-122"/>
                <a:cs typeface="Roboto" pitchFamily="34" charset="-120"/>
              </a:rPr>
              <a:t>Admin Generator</a:t>
            </a:r>
            <a:endParaRPr lang="en-US" sz="1200" dirty="0"/>
          </a:p>
        </p:txBody>
      </p:sp>
      <p:sp>
        <p:nvSpPr>
          <p:cNvPr id="40" name="Text 38"/>
          <p:cNvSpPr/>
          <p:nvPr/>
        </p:nvSpPr>
        <p:spPr>
          <a:xfrm>
            <a:off x="8330988" y="4392507"/>
            <a:ext cx="716809" cy="290407"/>
          </a:xfrm>
          <a:custGeom>
            <a:avLst/>
            <a:gdLst/>
            <a:ahLst/>
            <a:cxnLst/>
            <a:rect l="l" t="t" r="r" b="b"/>
            <a:pathLst>
              <a:path w="716809" h="290407">
                <a:moveTo>
                  <a:pt x="145203" y="0"/>
                </a:moveTo>
                <a:lnTo>
                  <a:pt x="571606" y="0"/>
                </a:lnTo>
                <a:arcTo hR="145203" wR="145203" stAng="16200000" swAng="5400000"/>
                <a:lnTo>
                  <a:pt x="716809" y="145203"/>
                </a:lnTo>
                <a:arcTo hR="145203" wR="145203" stAng="0" swAng="5400000"/>
                <a:lnTo>
                  <a:pt x="145203" y="290407"/>
                </a:lnTo>
                <a:arcTo hR="145203" wR="145203" stAng="5400000" swAng="5400000"/>
                <a:lnTo>
                  <a:pt x="0" y="145203"/>
                </a:lnTo>
                <a:arcTo hR="145203" wR="145203" stAng="10800000" swAng="5400000"/>
                <a:close/>
              </a:path>
            </a:pathLst>
          </a:custGeom>
          <a:noFill/>
          <a:ln w="6350">
            <a:solidFill>
              <a:srgbClr val="CBD5E8"/>
            </a:solidFill>
            <a:prstDash val="solid"/>
          </a:ln>
        </p:spPr>
        <p:txBody>
          <a:bodyPr wrap="none" lIns="0" tIns="0" rIns="0" bIns="0" rtlCol="0" anchor="ctr">
            <a:normAutofit/>
          </a:bodyPr>
          <a:lstStyle/>
          <a:p>
            <a:pPr algn="ctr" indent="0" marL="0">
              <a:lnSpc>
                <a:spcPts val="1680"/>
              </a:lnSpc>
              <a:buNone/>
            </a:pPr>
            <a:r>
              <a:rPr lang="en-US" sz="1200" dirty="0">
                <a:solidFill>
                  <a:srgbClr val="475569"/>
                </a:solidFill>
                <a:latin typeface="Roboto" pitchFamily="34" charset="0"/>
                <a:ea typeface="Roboto" pitchFamily="34" charset="-122"/>
                <a:cs typeface="Roboto" pitchFamily="34" charset="-120"/>
              </a:rPr>
              <a:t>Faculty</a:t>
            </a:r>
            <a:endParaRPr lang="en-US" sz="1200" dirty="0"/>
          </a:p>
        </p:txBody>
      </p:sp>
      <p:sp>
        <p:nvSpPr>
          <p:cNvPr id="41" name="Text 39"/>
          <p:cNvSpPr/>
          <p:nvPr/>
        </p:nvSpPr>
        <p:spPr>
          <a:xfrm>
            <a:off x="9117647" y="4392507"/>
            <a:ext cx="754592" cy="290407"/>
          </a:xfrm>
          <a:custGeom>
            <a:avLst/>
            <a:gdLst/>
            <a:ahLst/>
            <a:cxnLst/>
            <a:rect l="l" t="t" r="r" b="b"/>
            <a:pathLst>
              <a:path w="754592" h="290407">
                <a:moveTo>
                  <a:pt x="145203" y="0"/>
                </a:moveTo>
                <a:lnTo>
                  <a:pt x="609388" y="0"/>
                </a:lnTo>
                <a:arcTo hR="145203" wR="145203" stAng="16200000" swAng="5400000"/>
                <a:lnTo>
                  <a:pt x="754592" y="145203"/>
                </a:lnTo>
                <a:arcTo hR="145203" wR="145203" stAng="0" swAng="5400000"/>
                <a:lnTo>
                  <a:pt x="145203" y="290407"/>
                </a:lnTo>
                <a:arcTo hR="145203" wR="145203" stAng="5400000" swAng="5400000"/>
                <a:lnTo>
                  <a:pt x="0" y="145203"/>
                </a:lnTo>
                <a:arcTo hR="145203" wR="145203" stAng="10800000" swAng="5400000"/>
                <a:close/>
              </a:path>
            </a:pathLst>
          </a:custGeom>
          <a:noFill/>
          <a:ln w="6350">
            <a:solidFill>
              <a:srgbClr val="CBD5E8"/>
            </a:solidFill>
            <a:prstDash val="solid"/>
          </a:ln>
        </p:spPr>
        <p:txBody>
          <a:bodyPr wrap="none" lIns="0" tIns="0" rIns="0" bIns="0" rtlCol="0" anchor="ctr">
            <a:normAutofit/>
          </a:bodyPr>
          <a:lstStyle/>
          <a:p>
            <a:pPr algn="ctr" indent="0" marL="0">
              <a:lnSpc>
                <a:spcPts val="1680"/>
              </a:lnSpc>
              <a:buNone/>
            </a:pPr>
            <a:r>
              <a:rPr lang="en-US" sz="1200" dirty="0">
                <a:solidFill>
                  <a:srgbClr val="475569"/>
                </a:solidFill>
                <a:latin typeface="Roboto" pitchFamily="34" charset="0"/>
                <a:ea typeface="Roboto" pitchFamily="34" charset="-122"/>
                <a:cs typeface="Roboto" pitchFamily="34" charset="-120"/>
              </a:rPr>
              <a:t>Student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F8FAFF"/>
              </a:gs>
              <a:gs pos="55000">
                <a:srgbClr val="EEF2FF"/>
              </a:gs>
              <a:gs pos="100000">
                <a:srgbClr val="E6F3FB"/>
              </a:gs>
            </a:gsLst>
            <a:lin ang="2700000" scaled="0"/>
          </a:gradFill>
          <a:ln/>
        </p:spPr>
      </p:sp>
      <p:sp>
        <p:nvSpPr>
          <p:cNvPr id="3" name="Shape 1"/>
          <p:cNvSpPr/>
          <p:nvPr/>
        </p:nvSpPr>
        <p:spPr>
          <a:xfrm>
            <a:off x="0" y="0"/>
            <a:ext cx="12192000" cy="457200"/>
          </a:xfrm>
          <a:prstGeom prst="rect">
            <a:avLst/>
          </a:prstGeom>
          <a:solidFill>
            <a:srgbClr val="FFFFFF"/>
          </a:solidFill>
          <a:ln/>
        </p:spPr>
      </p:sp>
      <p:sp>
        <p:nvSpPr>
          <p:cNvPr id="4" name="Shape 2"/>
          <p:cNvSpPr/>
          <p:nvPr/>
        </p:nvSpPr>
        <p:spPr>
          <a:xfrm>
            <a:off x="0" y="454025"/>
            <a:ext cx="12192000" cy="0"/>
          </a:xfrm>
          <a:prstGeom prst="line">
            <a:avLst/>
          </a:prstGeom>
          <a:noFill/>
          <a:ln w="6350">
            <a:solidFill>
              <a:srgbClr val="E2E8F4"/>
            </a:solidFill>
            <a:prstDash val="solid"/>
          </a:ln>
        </p:spPr>
      </p:sp>
      <p:sp>
        <p:nvSpPr>
          <p:cNvPr id="5" name="Text 3"/>
          <p:cNvSpPr/>
          <p:nvPr/>
        </p:nvSpPr>
        <p:spPr>
          <a:xfrm>
            <a:off x="609600" y="112500"/>
            <a:ext cx="228600" cy="228600"/>
          </a:xfrm>
          <a:custGeom>
            <a:avLst/>
            <a:gdLst/>
            <a:ahLst/>
            <a:cxnLst/>
            <a:rect l="l" t="t" r="r" b="b"/>
            <a:pathLst>
              <a:path w="228600" h="228600">
                <a:moveTo>
                  <a:pt x="114300" y="0"/>
                </a:moveTo>
                <a:lnTo>
                  <a:pt x="114300" y="0"/>
                </a:lnTo>
                <a:arcTo hR="114300" wR="114300" stAng="16200000" swAng="5400000"/>
                <a:lnTo>
                  <a:pt x="228600" y="114300"/>
                </a:lnTo>
                <a:arcTo hR="114300" wR="114300" stAng="0" swAng="5400000"/>
                <a:lnTo>
                  <a:pt x="114300" y="228600"/>
                </a:lnTo>
                <a:arcTo hR="114300" wR="114300" stAng="5400000" swAng="5400000"/>
                <a:lnTo>
                  <a:pt x="0" y="114300"/>
                </a:lnTo>
                <a:arcTo hR="114300" wR="114300" stAng="10800000" swAng="5400000"/>
                <a:close/>
              </a:path>
            </a:pathLst>
          </a:custGeom>
          <a:solidFill>
            <a:srgbClr val="4F6BED"/>
          </a:solidFill>
          <a:ln/>
        </p:spPr>
        <p:txBody>
          <a:bodyPr wrap="square" lIns="0" tIns="0" rIns="0" bIns="0" rtlCol="0" anchor="ctr">
            <a:normAutofit/>
          </a:bodyPr>
          <a:lstStyle/>
          <a:p>
            <a:pPr algn="ctr" indent="0" marL="0">
              <a:lnSpc>
                <a:spcPts val="1680"/>
              </a:lnSpc>
              <a:buNone/>
            </a:pPr>
            <a:r>
              <a:rPr lang="en-US" sz="1200" dirty="0">
                <a:solidFill>
                  <a:srgbClr val="FFFFFF"/>
                </a:solidFill>
                <a:latin typeface="Roboto" pitchFamily="34" charset="0"/>
                <a:ea typeface="Roboto" pitchFamily="34" charset="-122"/>
                <a:cs typeface="Roboto" pitchFamily="34" charset="-120"/>
              </a:rPr>
              <a:t>S</a:t>
            </a:r>
            <a:endParaRPr lang="en-US" sz="1200" dirty="0"/>
          </a:p>
        </p:txBody>
      </p:sp>
      <p:sp>
        <p:nvSpPr>
          <p:cNvPr id="6" name="Text 4"/>
          <p:cNvSpPr/>
          <p:nvPr/>
        </p:nvSpPr>
        <p:spPr>
          <a:xfrm>
            <a:off x="939800" y="111230"/>
            <a:ext cx="86182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B2336"/>
                </a:solidFill>
                <a:latin typeface="Roboto" pitchFamily="34" charset="0"/>
                <a:ea typeface="Roboto" pitchFamily="34" charset="-122"/>
                <a:cs typeface="Roboto" pitchFamily="34" charset="-120"/>
              </a:rPr>
              <a:t>Schedulix</a:t>
            </a:r>
            <a:endParaRPr lang="en-US" sz="1300" dirty="0"/>
          </a:p>
        </p:txBody>
      </p:sp>
      <p:sp>
        <p:nvSpPr>
          <p:cNvPr id="7" name="Text 5"/>
          <p:cNvSpPr/>
          <p:nvPr/>
        </p:nvSpPr>
        <p:spPr>
          <a:xfrm>
            <a:off x="11014710" y="94298"/>
            <a:ext cx="564515" cy="265007"/>
          </a:xfrm>
          <a:custGeom>
            <a:avLst/>
            <a:gdLst/>
            <a:ahLst/>
            <a:cxnLst/>
            <a:rect l="l" t="t" r="r" b="b"/>
            <a:pathLst>
              <a:path w="564515" h="265007">
                <a:moveTo>
                  <a:pt x="132503" y="0"/>
                </a:moveTo>
                <a:lnTo>
                  <a:pt x="432012" y="0"/>
                </a:lnTo>
                <a:arcTo hR="132503" wR="132503" stAng="16200000" swAng="5400000"/>
                <a:lnTo>
                  <a:pt x="564515" y="132503"/>
                </a:lnTo>
                <a:arcTo hR="132503" wR="132503" stAng="0" swAng="5400000"/>
                <a:lnTo>
                  <a:pt x="132503" y="265007"/>
                </a:lnTo>
                <a:arcTo hR="132503" wR="132503" stAng="5400000" swAng="5400000"/>
                <a:lnTo>
                  <a:pt x="0" y="132503"/>
                </a:lnTo>
                <a:arcTo hR="132503" wR="132503" stAng="10800000" swAng="5400000"/>
                <a:close/>
              </a:path>
            </a:pathLst>
          </a:custGeom>
          <a:noFill/>
          <a:ln w="6350">
            <a:solidFill>
              <a:srgbClr val="CBD5E8"/>
            </a:solidFill>
            <a:prstDash val="solid"/>
          </a:ln>
        </p:spPr>
        <p:txBody>
          <a:bodyPr wrap="none" lIns="0" tIns="0" rIns="0" bIns="0" rtlCol="0" anchor="ctr">
            <a:normAutofit/>
          </a:bodyPr>
          <a:lstStyle/>
          <a:p>
            <a:pPr algn="ctr" indent="0" marL="0">
              <a:lnSpc>
                <a:spcPts val="1680"/>
              </a:lnSpc>
              <a:buNone/>
            </a:pPr>
            <a:r>
              <a:rPr lang="en-US" sz="1200" dirty="0">
                <a:solidFill>
                  <a:srgbClr val="64748B"/>
                </a:solidFill>
                <a:latin typeface="Roboto" pitchFamily="34" charset="0"/>
                <a:ea typeface="Roboto" pitchFamily="34" charset="-122"/>
                <a:cs typeface="Roboto" pitchFamily="34" charset="-120"/>
              </a:rPr>
              <a:t>4 / 4</a:t>
            </a:r>
            <a:endParaRPr lang="en-US" sz="1200" dirty="0"/>
          </a:p>
        </p:txBody>
      </p:sp>
      <p:sp>
        <p:nvSpPr>
          <p:cNvPr id="8" name="Text 6"/>
          <p:cNvSpPr/>
          <p:nvPr>
            <p:ph type="title"/>
          </p:nvPr>
        </p:nvSpPr>
        <p:spPr>
          <a:xfrm>
            <a:off x="609600" y="812800"/>
            <a:ext cx="11301984"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0F172A"/>
                </a:solidFill>
                <a:latin typeface="Roboto" pitchFamily="34" charset="0"/>
                <a:ea typeface="Roboto" pitchFamily="34" charset="-122"/>
                <a:cs typeface="Roboto" pitchFamily="34" charset="-120"/>
              </a:rPr>
              <a:t>Project Outcomes &amp; Future Enhancements</a:t>
            </a:r>
            <a:endParaRPr lang="en-US" sz="2800" dirty="0"/>
          </a:p>
        </p:txBody>
      </p:sp>
      <p:sp>
        <p:nvSpPr>
          <p:cNvPr id="9" name="Shape 7"/>
          <p:cNvSpPr/>
          <p:nvPr/>
        </p:nvSpPr>
        <p:spPr>
          <a:xfrm>
            <a:off x="612775" y="1453514"/>
            <a:ext cx="3549650" cy="1656927"/>
          </a:xfrm>
          <a:prstGeom prst="roundRect">
            <a:avLst>
              <a:gd name="adj" fmla="val 5940"/>
            </a:avLst>
          </a:prstGeom>
          <a:gradFill rotWithShape="1">
            <a:gsLst>
              <a:gs pos="0">
                <a:srgbClr val="FFFFFF"/>
              </a:gs>
              <a:gs pos="100000">
                <a:srgbClr val="F4F7FF"/>
              </a:gs>
            </a:gsLst>
            <a:lin ang="5400000" scaled="0"/>
          </a:gradFill>
          <a:ln w="6350">
            <a:solidFill>
              <a:srgbClr val="E2E8F4"/>
            </a:solidFill>
            <a:prstDash val="solid"/>
          </a:ln>
        </p:spPr>
      </p:sp>
      <p:sp>
        <p:nvSpPr>
          <p:cNvPr id="10" name="Text 8"/>
          <p:cNvSpPr/>
          <p:nvPr/>
        </p:nvSpPr>
        <p:spPr>
          <a:xfrm>
            <a:off x="816398" y="1657138"/>
            <a:ext cx="3236675" cy="584200"/>
          </a:xfrm>
          <a:prstGeom prst="rect">
            <a:avLst/>
          </a:prstGeom>
          <a:noFill/>
          <a:ln/>
        </p:spPr>
        <p:txBody>
          <a:bodyPr wrap="square" lIns="0" tIns="0" rIns="0" bIns="0" rtlCol="0" anchor="t">
            <a:normAutofit/>
          </a:bodyPr>
          <a:lstStyle/>
          <a:p>
            <a:pPr algn="l" indent="0" marL="0">
              <a:lnSpc>
                <a:spcPts val="4400"/>
              </a:lnSpc>
              <a:buNone/>
            </a:pPr>
            <a:r>
              <a:rPr lang="en-US" sz="4000" b="1" dirty="0">
                <a:solidFill>
                  <a:srgbClr val="2E7D32"/>
                </a:solidFill>
                <a:latin typeface="Roboto" pitchFamily="34" charset="0"/>
                <a:ea typeface="Roboto" pitchFamily="34" charset="-122"/>
                <a:cs typeface="Roboto" pitchFamily="34" charset="-120"/>
              </a:rPr>
              <a:t>100%</a:t>
            </a:r>
            <a:endParaRPr lang="en-US" sz="4000" dirty="0"/>
          </a:p>
        </p:txBody>
      </p:sp>
      <p:sp>
        <p:nvSpPr>
          <p:cNvPr id="11" name="Text 9"/>
          <p:cNvSpPr/>
          <p:nvPr/>
        </p:nvSpPr>
        <p:spPr>
          <a:xfrm>
            <a:off x="816398" y="2330238"/>
            <a:ext cx="3236675"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336"/>
                </a:solidFill>
                <a:latin typeface="Roboto" pitchFamily="34" charset="0"/>
                <a:ea typeface="Roboto" pitchFamily="34" charset="-122"/>
                <a:cs typeface="Roboto" pitchFamily="34" charset="-120"/>
              </a:rPr>
              <a:t>Conflict-free</a:t>
            </a:r>
            <a:endParaRPr lang="en-US" sz="1400" dirty="0"/>
          </a:p>
        </p:txBody>
      </p:sp>
      <p:sp>
        <p:nvSpPr>
          <p:cNvPr id="12" name="Text 10"/>
          <p:cNvSpPr/>
          <p:nvPr/>
        </p:nvSpPr>
        <p:spPr>
          <a:xfrm>
            <a:off x="816398" y="2693459"/>
            <a:ext cx="323667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748B"/>
                </a:solidFill>
                <a:latin typeface="Roboto" pitchFamily="34" charset="0"/>
                <a:ea typeface="Roboto" pitchFamily="34" charset="-122"/>
                <a:cs typeface="Roboto" pitchFamily="34" charset="-120"/>
              </a:rPr>
              <a:t>0% overlap across faculty, sections, rooms</a:t>
            </a:r>
            <a:endParaRPr lang="en-US" sz="1200" dirty="0"/>
          </a:p>
        </p:txBody>
      </p:sp>
      <p:sp>
        <p:nvSpPr>
          <p:cNvPr id="13" name="Shape 11"/>
          <p:cNvSpPr/>
          <p:nvPr/>
        </p:nvSpPr>
        <p:spPr>
          <a:xfrm>
            <a:off x="4321175" y="1453514"/>
            <a:ext cx="3549650" cy="1656927"/>
          </a:xfrm>
          <a:prstGeom prst="roundRect">
            <a:avLst>
              <a:gd name="adj" fmla="val 5940"/>
            </a:avLst>
          </a:prstGeom>
          <a:gradFill rotWithShape="1">
            <a:gsLst>
              <a:gs pos="0">
                <a:srgbClr val="FFFFFF"/>
              </a:gs>
              <a:gs pos="100000">
                <a:srgbClr val="F4F7FF"/>
              </a:gs>
            </a:gsLst>
            <a:lin ang="5400000" scaled="0"/>
          </a:gradFill>
          <a:ln w="6350">
            <a:solidFill>
              <a:srgbClr val="E2E8F4"/>
            </a:solidFill>
            <a:prstDash val="solid"/>
          </a:ln>
        </p:spPr>
      </p:sp>
      <p:sp>
        <p:nvSpPr>
          <p:cNvPr id="14" name="Text 12"/>
          <p:cNvSpPr/>
          <p:nvPr/>
        </p:nvSpPr>
        <p:spPr>
          <a:xfrm>
            <a:off x="4524798" y="1657138"/>
            <a:ext cx="3236675" cy="584200"/>
          </a:xfrm>
          <a:prstGeom prst="rect">
            <a:avLst/>
          </a:prstGeom>
          <a:noFill/>
          <a:ln/>
        </p:spPr>
        <p:txBody>
          <a:bodyPr wrap="square" lIns="0" tIns="0" rIns="0" bIns="0" rtlCol="0" anchor="t">
            <a:normAutofit/>
          </a:bodyPr>
          <a:lstStyle/>
          <a:p>
            <a:pPr algn="l" indent="0" marL="0">
              <a:lnSpc>
                <a:spcPts val="4400"/>
              </a:lnSpc>
              <a:buNone/>
            </a:pPr>
            <a:r>
              <a:rPr lang="en-US" sz="4000" b="1" dirty="0">
                <a:solidFill>
                  <a:srgbClr val="0288D1"/>
                </a:solidFill>
                <a:latin typeface="Roboto" pitchFamily="34" charset="0"/>
                <a:ea typeface="Roboto" pitchFamily="34" charset="-122"/>
                <a:cs typeface="Roboto" pitchFamily="34" charset="-120"/>
              </a:rPr>
              <a:t>Seconds</a:t>
            </a:r>
            <a:endParaRPr lang="en-US" sz="4000" dirty="0"/>
          </a:p>
        </p:txBody>
      </p:sp>
      <p:sp>
        <p:nvSpPr>
          <p:cNvPr id="15" name="Text 13"/>
          <p:cNvSpPr/>
          <p:nvPr/>
        </p:nvSpPr>
        <p:spPr>
          <a:xfrm>
            <a:off x="4524798" y="2330238"/>
            <a:ext cx="3236675"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336"/>
                </a:solidFill>
                <a:latin typeface="Roboto" pitchFamily="34" charset="0"/>
                <a:ea typeface="Roboto" pitchFamily="34" charset="-122"/>
                <a:cs typeface="Roboto" pitchFamily="34" charset="-120"/>
              </a:rPr>
              <a:t>Generation time</a:t>
            </a:r>
            <a:endParaRPr lang="en-US" sz="1400" dirty="0"/>
          </a:p>
        </p:txBody>
      </p:sp>
      <p:sp>
        <p:nvSpPr>
          <p:cNvPr id="16" name="Text 14"/>
          <p:cNvSpPr/>
          <p:nvPr/>
        </p:nvSpPr>
        <p:spPr>
          <a:xfrm>
            <a:off x="4524798" y="2693459"/>
            <a:ext cx="323667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748B"/>
                </a:solidFill>
                <a:latin typeface="Roboto" pitchFamily="34" charset="0"/>
                <a:ea typeface="Roboto" pitchFamily="34" charset="-122"/>
                <a:cs typeface="Roboto" pitchFamily="34" charset="-120"/>
              </a:rPr>
              <a:t>Down from days of manual work</a:t>
            </a:r>
            <a:endParaRPr lang="en-US" sz="1200" dirty="0"/>
          </a:p>
        </p:txBody>
      </p:sp>
      <p:sp>
        <p:nvSpPr>
          <p:cNvPr id="17" name="Shape 15"/>
          <p:cNvSpPr/>
          <p:nvPr/>
        </p:nvSpPr>
        <p:spPr>
          <a:xfrm>
            <a:off x="8029575" y="1453514"/>
            <a:ext cx="3549650" cy="1656927"/>
          </a:xfrm>
          <a:prstGeom prst="roundRect">
            <a:avLst>
              <a:gd name="adj" fmla="val 5940"/>
            </a:avLst>
          </a:prstGeom>
          <a:gradFill rotWithShape="1">
            <a:gsLst>
              <a:gs pos="0">
                <a:srgbClr val="FFFFFF"/>
              </a:gs>
              <a:gs pos="100000">
                <a:srgbClr val="F4F7FF"/>
              </a:gs>
            </a:gsLst>
            <a:lin ang="5400000" scaled="0"/>
          </a:gradFill>
          <a:ln w="6350">
            <a:solidFill>
              <a:srgbClr val="E2E8F4"/>
            </a:solidFill>
            <a:prstDash val="solid"/>
          </a:ln>
        </p:spPr>
      </p:sp>
      <p:sp>
        <p:nvSpPr>
          <p:cNvPr id="18" name="Text 16"/>
          <p:cNvSpPr/>
          <p:nvPr/>
        </p:nvSpPr>
        <p:spPr>
          <a:xfrm>
            <a:off x="8233198" y="1657138"/>
            <a:ext cx="3236675" cy="584200"/>
          </a:xfrm>
          <a:prstGeom prst="rect">
            <a:avLst/>
          </a:prstGeom>
          <a:noFill/>
          <a:ln/>
        </p:spPr>
        <p:txBody>
          <a:bodyPr wrap="square" lIns="0" tIns="0" rIns="0" bIns="0" rtlCol="0" anchor="t">
            <a:normAutofit/>
          </a:bodyPr>
          <a:lstStyle/>
          <a:p>
            <a:pPr algn="l" indent="0" marL="0">
              <a:lnSpc>
                <a:spcPts val="4400"/>
              </a:lnSpc>
              <a:buNone/>
            </a:pPr>
            <a:r>
              <a:rPr lang="en-US" sz="4000" b="1" dirty="0">
                <a:solidFill>
                  <a:srgbClr val="3F51B5"/>
                </a:solidFill>
                <a:latin typeface="Roboto" pitchFamily="34" charset="0"/>
                <a:ea typeface="Roboto" pitchFamily="34" charset="-122"/>
                <a:cs typeface="Roboto" pitchFamily="34" charset="-120"/>
              </a:rPr>
              <a:t>3</a:t>
            </a:r>
            <a:endParaRPr lang="en-US" sz="4000" dirty="0"/>
          </a:p>
        </p:txBody>
      </p:sp>
      <p:sp>
        <p:nvSpPr>
          <p:cNvPr id="19" name="Text 17"/>
          <p:cNvSpPr/>
          <p:nvPr/>
        </p:nvSpPr>
        <p:spPr>
          <a:xfrm>
            <a:off x="8233198" y="2330238"/>
            <a:ext cx="3236675"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B2336"/>
                </a:solidFill>
                <a:latin typeface="Roboto" pitchFamily="34" charset="0"/>
                <a:ea typeface="Roboto" pitchFamily="34" charset="-122"/>
                <a:cs typeface="Roboto" pitchFamily="34" charset="-120"/>
              </a:rPr>
              <a:t>Role portals</a:t>
            </a:r>
            <a:endParaRPr lang="en-US" sz="1400" dirty="0"/>
          </a:p>
        </p:txBody>
      </p:sp>
      <p:sp>
        <p:nvSpPr>
          <p:cNvPr id="20" name="Text 18"/>
          <p:cNvSpPr/>
          <p:nvPr/>
        </p:nvSpPr>
        <p:spPr>
          <a:xfrm>
            <a:off x="8233198" y="2693459"/>
            <a:ext cx="323667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748B"/>
                </a:solidFill>
                <a:latin typeface="Roboto" pitchFamily="34" charset="0"/>
                <a:ea typeface="Roboto" pitchFamily="34" charset="-122"/>
                <a:cs typeface="Roboto" pitchFamily="34" charset="-120"/>
              </a:rPr>
              <a:t>Self-service with real-time absence tracking</a:t>
            </a:r>
            <a:endParaRPr lang="en-US" sz="1200" dirty="0"/>
          </a:p>
        </p:txBody>
      </p:sp>
      <p:sp>
        <p:nvSpPr>
          <p:cNvPr id="21" name="Shape 19"/>
          <p:cNvSpPr/>
          <p:nvPr/>
        </p:nvSpPr>
        <p:spPr>
          <a:xfrm>
            <a:off x="612775" y="3345391"/>
            <a:ext cx="10966450" cy="1604857"/>
          </a:xfrm>
          <a:prstGeom prst="roundRect">
            <a:avLst>
              <a:gd name="adj" fmla="val 6133"/>
            </a:avLst>
          </a:prstGeom>
          <a:gradFill rotWithShape="1">
            <a:gsLst>
              <a:gs pos="0">
                <a:srgbClr val="FFFFFF"/>
              </a:gs>
              <a:gs pos="100000">
                <a:srgbClr val="F4F7FF"/>
              </a:gs>
            </a:gsLst>
            <a:lin ang="5400000" scaled="0"/>
          </a:gradFill>
          <a:ln w="6350">
            <a:solidFill>
              <a:srgbClr val="E2E8F4"/>
            </a:solidFill>
            <a:prstDash val="solid"/>
          </a:ln>
        </p:spPr>
      </p:sp>
      <p:sp>
        <p:nvSpPr>
          <p:cNvPr id="22" name="Text 20"/>
          <p:cNvSpPr/>
          <p:nvPr/>
        </p:nvSpPr>
        <p:spPr>
          <a:xfrm>
            <a:off x="816398" y="3549014"/>
            <a:ext cx="10875980"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B2336"/>
                </a:solidFill>
                <a:latin typeface="Roboto" pitchFamily="34" charset="0"/>
                <a:ea typeface="Roboto" pitchFamily="34" charset="-122"/>
                <a:cs typeface="Roboto" pitchFamily="34" charset="-120"/>
              </a:rPr>
              <a:t>Future roadmap</a:t>
            </a:r>
            <a:endParaRPr lang="en-US" sz="1600" dirty="0"/>
          </a:p>
        </p:txBody>
      </p:sp>
      <p:sp>
        <p:nvSpPr>
          <p:cNvPr id="23" name="Text 21"/>
          <p:cNvSpPr/>
          <p:nvPr/>
        </p:nvSpPr>
        <p:spPr>
          <a:xfrm>
            <a:off x="816398" y="3945255"/>
            <a:ext cx="279400" cy="279400"/>
          </a:xfrm>
          <a:custGeom>
            <a:avLst/>
            <a:gdLst/>
            <a:ahLst/>
            <a:cxnLst/>
            <a:rect l="l" t="t" r="r" b="b"/>
            <a:pathLst>
              <a:path w="279400" h="279400">
                <a:moveTo>
                  <a:pt x="139700" y="0"/>
                </a:moveTo>
                <a:lnTo>
                  <a:pt x="139700" y="0"/>
                </a:lnTo>
                <a:arcTo hR="139700" wR="139700" stAng="16200000" swAng="5400000"/>
                <a:lnTo>
                  <a:pt x="279400" y="139700"/>
                </a:lnTo>
                <a:arcTo hR="139700" wR="139700" stAng="0" swAng="5400000"/>
                <a:lnTo>
                  <a:pt x="139700" y="279400"/>
                </a:lnTo>
                <a:arcTo hR="139700" wR="139700" stAng="5400000" swAng="5400000"/>
                <a:lnTo>
                  <a:pt x="0" y="139700"/>
                </a:lnTo>
                <a:arcTo hR="139700" wR="139700" stAng="10800000" swAng="5400000"/>
                <a:close/>
              </a:path>
            </a:pathLst>
          </a:custGeom>
          <a:solidFill>
            <a:srgbClr val="4F6BED"/>
          </a:solidFill>
          <a:ln/>
        </p:spPr>
        <p:txBody>
          <a:bodyPr wrap="square" lIns="0" tIns="0" rIns="0" bIns="0" rtlCol="0" anchor="ctr">
            <a:normAutofit/>
          </a:bodyPr>
          <a:lstStyle/>
          <a:p>
            <a:pPr algn="ctr" indent="0" marL="0">
              <a:lnSpc>
                <a:spcPts val="1680"/>
              </a:lnSpc>
              <a:buNone/>
            </a:pPr>
            <a:r>
              <a:rPr lang="en-US" sz="1200" dirty="0">
                <a:solidFill>
                  <a:srgbClr val="FFFFFF"/>
                </a:solidFill>
                <a:latin typeface="Roboto" pitchFamily="34" charset="0"/>
                <a:ea typeface="Roboto" pitchFamily="34" charset="-122"/>
                <a:cs typeface="Roboto" pitchFamily="34" charset="-120"/>
              </a:rPr>
              <a:t>1</a:t>
            </a:r>
            <a:endParaRPr lang="en-US" sz="1200" dirty="0"/>
          </a:p>
        </p:txBody>
      </p:sp>
      <p:sp>
        <p:nvSpPr>
          <p:cNvPr id="24" name="Shape 22"/>
          <p:cNvSpPr/>
          <p:nvPr/>
        </p:nvSpPr>
        <p:spPr>
          <a:xfrm>
            <a:off x="1197398" y="4078605"/>
            <a:ext cx="3037099" cy="12700"/>
          </a:xfrm>
          <a:prstGeom prst="rect">
            <a:avLst/>
          </a:prstGeom>
          <a:solidFill>
            <a:srgbClr val="CBD5E8"/>
          </a:solidFill>
          <a:ln/>
        </p:spPr>
      </p:sp>
      <p:sp>
        <p:nvSpPr>
          <p:cNvPr id="25" name="Text 23"/>
          <p:cNvSpPr/>
          <p:nvPr/>
        </p:nvSpPr>
        <p:spPr>
          <a:xfrm>
            <a:off x="816398" y="4300855"/>
            <a:ext cx="3520642"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B2336"/>
                </a:solidFill>
                <a:latin typeface="Roboto" pitchFamily="34" charset="0"/>
                <a:ea typeface="Roboto" pitchFamily="34" charset="-122"/>
                <a:cs typeface="Roboto" pitchFamily="34" charset="-120"/>
              </a:rPr>
              <a:t>Backtracking &amp; genetic algorithms for soft-constraint scoring</a:t>
            </a:r>
            <a:endParaRPr lang="en-US" sz="1300" dirty="0"/>
          </a:p>
        </p:txBody>
      </p:sp>
      <p:sp>
        <p:nvSpPr>
          <p:cNvPr id="26" name="Text 24"/>
          <p:cNvSpPr/>
          <p:nvPr/>
        </p:nvSpPr>
        <p:spPr>
          <a:xfrm>
            <a:off x="4386897" y="3945255"/>
            <a:ext cx="279400" cy="279400"/>
          </a:xfrm>
          <a:custGeom>
            <a:avLst/>
            <a:gdLst/>
            <a:ahLst/>
            <a:cxnLst/>
            <a:rect l="l" t="t" r="r" b="b"/>
            <a:pathLst>
              <a:path w="279400" h="279400">
                <a:moveTo>
                  <a:pt x="139700" y="0"/>
                </a:moveTo>
                <a:lnTo>
                  <a:pt x="139700" y="0"/>
                </a:lnTo>
                <a:arcTo hR="139700" wR="139700" stAng="16200000" swAng="5400000"/>
                <a:lnTo>
                  <a:pt x="279400" y="139700"/>
                </a:lnTo>
                <a:arcTo hR="139700" wR="139700" stAng="0" swAng="5400000"/>
                <a:lnTo>
                  <a:pt x="139700" y="279400"/>
                </a:lnTo>
                <a:arcTo hR="139700" wR="139700" stAng="5400000" swAng="5400000"/>
                <a:lnTo>
                  <a:pt x="0" y="139700"/>
                </a:lnTo>
                <a:arcTo hR="139700" wR="139700" stAng="10800000" swAng="5400000"/>
                <a:close/>
              </a:path>
            </a:pathLst>
          </a:custGeom>
          <a:solidFill>
            <a:srgbClr val="4F6BED"/>
          </a:solidFill>
          <a:ln/>
        </p:spPr>
        <p:txBody>
          <a:bodyPr wrap="square" lIns="0" tIns="0" rIns="0" bIns="0" rtlCol="0" anchor="ctr">
            <a:normAutofit/>
          </a:bodyPr>
          <a:lstStyle/>
          <a:p>
            <a:pPr algn="ctr" indent="0" marL="0">
              <a:lnSpc>
                <a:spcPts val="1680"/>
              </a:lnSpc>
              <a:buNone/>
            </a:pPr>
            <a:r>
              <a:rPr lang="en-US" sz="1200" dirty="0">
                <a:solidFill>
                  <a:srgbClr val="FFFFFF"/>
                </a:solidFill>
                <a:latin typeface="Roboto" pitchFamily="34" charset="0"/>
                <a:ea typeface="Roboto" pitchFamily="34" charset="-122"/>
                <a:cs typeface="Roboto" pitchFamily="34" charset="-120"/>
              </a:rPr>
              <a:t>2</a:t>
            </a:r>
            <a:endParaRPr lang="en-US" sz="1200" dirty="0"/>
          </a:p>
        </p:txBody>
      </p:sp>
      <p:sp>
        <p:nvSpPr>
          <p:cNvPr id="27" name="Shape 25"/>
          <p:cNvSpPr/>
          <p:nvPr/>
        </p:nvSpPr>
        <p:spPr>
          <a:xfrm>
            <a:off x="4767897" y="4078605"/>
            <a:ext cx="3037205" cy="12700"/>
          </a:xfrm>
          <a:prstGeom prst="rect">
            <a:avLst/>
          </a:prstGeom>
          <a:solidFill>
            <a:srgbClr val="CBD5E8"/>
          </a:solidFill>
          <a:ln/>
        </p:spPr>
      </p:sp>
      <p:sp>
        <p:nvSpPr>
          <p:cNvPr id="28" name="Text 26"/>
          <p:cNvSpPr/>
          <p:nvPr/>
        </p:nvSpPr>
        <p:spPr>
          <a:xfrm>
            <a:off x="4386897" y="4300855"/>
            <a:ext cx="3520751"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B2336"/>
                </a:solidFill>
                <a:latin typeface="Roboto" pitchFamily="34" charset="0"/>
                <a:ea typeface="Roboto" pitchFamily="34" charset="-122"/>
                <a:cs typeface="Roboto" pitchFamily="34" charset="-120"/>
              </a:rPr>
              <a:t>Automated substitution suggestions for faculty absences</a:t>
            </a:r>
            <a:endParaRPr lang="en-US" sz="1300" dirty="0"/>
          </a:p>
        </p:txBody>
      </p:sp>
      <p:sp>
        <p:nvSpPr>
          <p:cNvPr id="29" name="Text 27"/>
          <p:cNvSpPr/>
          <p:nvPr/>
        </p:nvSpPr>
        <p:spPr>
          <a:xfrm>
            <a:off x="7957503" y="3945255"/>
            <a:ext cx="279400" cy="279400"/>
          </a:xfrm>
          <a:custGeom>
            <a:avLst/>
            <a:gdLst/>
            <a:ahLst/>
            <a:cxnLst/>
            <a:rect l="l" t="t" r="r" b="b"/>
            <a:pathLst>
              <a:path w="279400" h="279400">
                <a:moveTo>
                  <a:pt x="139700" y="0"/>
                </a:moveTo>
                <a:lnTo>
                  <a:pt x="139700" y="0"/>
                </a:lnTo>
                <a:arcTo hR="139700" wR="139700" stAng="16200000" swAng="5400000"/>
                <a:lnTo>
                  <a:pt x="279400" y="139700"/>
                </a:lnTo>
                <a:arcTo hR="139700" wR="139700" stAng="0" swAng="5400000"/>
                <a:lnTo>
                  <a:pt x="139700" y="279400"/>
                </a:lnTo>
                <a:arcTo hR="139700" wR="139700" stAng="5400000" swAng="5400000"/>
                <a:lnTo>
                  <a:pt x="0" y="139700"/>
                </a:lnTo>
                <a:arcTo hR="139700" wR="139700" stAng="10800000" swAng="5400000"/>
                <a:close/>
              </a:path>
            </a:pathLst>
          </a:custGeom>
          <a:solidFill>
            <a:srgbClr val="4F6BED"/>
          </a:solidFill>
          <a:ln/>
        </p:spPr>
        <p:txBody>
          <a:bodyPr wrap="square" lIns="0" tIns="0" rIns="0" bIns="0" rtlCol="0" anchor="ctr">
            <a:normAutofit/>
          </a:bodyPr>
          <a:lstStyle/>
          <a:p>
            <a:pPr algn="ctr" indent="0" marL="0">
              <a:lnSpc>
                <a:spcPts val="1680"/>
              </a:lnSpc>
              <a:buNone/>
            </a:pPr>
            <a:r>
              <a:rPr lang="en-US" sz="1200" dirty="0">
                <a:solidFill>
                  <a:srgbClr val="FFFFFF"/>
                </a:solidFill>
                <a:latin typeface="Roboto" pitchFamily="34" charset="0"/>
                <a:ea typeface="Roboto" pitchFamily="34" charset="-122"/>
                <a:cs typeface="Roboto" pitchFamily="34" charset="-120"/>
              </a:rPr>
              <a:t>3</a:t>
            </a:r>
            <a:endParaRPr lang="en-US" sz="1200" dirty="0"/>
          </a:p>
        </p:txBody>
      </p:sp>
      <p:sp>
        <p:nvSpPr>
          <p:cNvPr id="30" name="Shape 28"/>
          <p:cNvSpPr/>
          <p:nvPr/>
        </p:nvSpPr>
        <p:spPr>
          <a:xfrm>
            <a:off x="8338503" y="4078605"/>
            <a:ext cx="3037099" cy="12700"/>
          </a:xfrm>
          <a:prstGeom prst="rect">
            <a:avLst/>
          </a:prstGeom>
          <a:solidFill>
            <a:srgbClr val="CBD5E8"/>
          </a:solidFill>
          <a:ln/>
        </p:spPr>
      </p:sp>
      <p:sp>
        <p:nvSpPr>
          <p:cNvPr id="31" name="Text 29"/>
          <p:cNvSpPr/>
          <p:nvPr/>
        </p:nvSpPr>
        <p:spPr>
          <a:xfrm>
            <a:off x="7957503" y="4300855"/>
            <a:ext cx="3520642"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B2336"/>
                </a:solidFill>
                <a:latin typeface="Roboto" pitchFamily="34" charset="0"/>
                <a:ea typeface="Roboto" pitchFamily="34" charset="-122"/>
                <a:cs typeface="Roboto" pitchFamily="34" charset="-120"/>
              </a:rPr>
              <a:t>Google Calendar / iCal sync and PDF timetable exports</a:t>
            </a:r>
            <a:endParaRPr lang="en-US" sz="1300" dirty="0"/>
          </a:p>
        </p:txBody>
      </p:sp>
      <p:sp>
        <p:nvSpPr>
          <p:cNvPr id="32" name="Text 30"/>
          <p:cNvSpPr/>
          <p:nvPr/>
        </p:nvSpPr>
        <p:spPr>
          <a:xfrm>
            <a:off x="445008" y="5182023"/>
            <a:ext cx="11301984" cy="274320"/>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3F51B5"/>
                </a:solidFill>
                <a:latin typeface="Roboto" pitchFamily="34" charset="0"/>
                <a:ea typeface="Roboto" pitchFamily="34" charset="-122"/>
                <a:cs typeface="Roboto" pitchFamily="34" charset="-120"/>
              </a:rPr>
              <a:t>A scalable, institutional-grade platform bridging academic planning and automation.</a:t>
            </a:r>
            <a:endParaRPr lang="en-US" sz="1400" dirty="0"/>
          </a:p>
        </p:txBody>
      </p:sp>
    </p:spTree>
  </p:cSld>
  <p:clrMapOvr>
    <a:masterClrMapping/>
  </p:clrMapOvr>
</p:sld>
</file>

<file path=ppt/theme/theme1.xml><?xml version="1.0" encoding="utf-8"?>
<a:theme xmlns:a="http://schemas.openxmlformats.org/drawingml/2006/main" name="Schedulix — Viva Presentation">
  <a:themeElements>
    <a:clrScheme name="Schedulix — Viva Presentation">
      <a:dk1>
        <a:srgbClr val="141413"/>
      </a:dk1>
      <a:lt1>
        <a:srgbClr val="F8FAFF"/>
      </a:lt1>
      <a:dk2>
        <a:srgbClr val="4D4E4E"/>
      </a:dk2>
      <a:lt2>
        <a:srgbClr val="E1E3E7"/>
      </a:lt2>
      <a:accent1>
        <a:srgbClr val="64748B"/>
      </a:accent1>
      <a:accent2>
        <a:srgbClr val="4F6BED"/>
      </a:accent2>
      <a:accent3>
        <a:srgbClr val="3F51B5"/>
      </a:accent3>
      <a:accent4>
        <a:srgbClr val="2E7D32"/>
      </a:accent4>
      <a:accent5>
        <a:srgbClr val="0288D1"/>
      </a:accent5>
      <a:accent6>
        <a:srgbClr val="E65100"/>
      </a:accent6>
      <a:hlink>
        <a:srgbClr val="0563C1"/>
      </a:hlink>
      <a:folHlink>
        <a:srgbClr val="954F72"/>
      </a:folHlink>
    </a:clrScheme>
    <a:fontScheme name="Schedulix — Viva Presentation">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Schedulix — Viva Presentation</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Roboto
Copyright 2011 The Roboto Project Authors (https://github.com/googlefonts/roboto-classic)
This Font Software is licensed under the SIL Open Font License, Version 1.1.
This license is copied below, and is also available with a FAQ at:
https://openfontlicense.org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2026-10-26T15:53:32Z</dcterms:created>
  <dcterms:modified xsi:type="dcterms:W3CDTF">2026-10-26T15:53:32Z</dcterms:modified>
</cp:coreProperties>
</file>